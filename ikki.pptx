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7" r:id="rId5"/>
    <p:sldId id="261" r:id="rId6"/>
    <p:sldId id="269" r:id="rId7"/>
    <p:sldId id="262" r:id="rId8"/>
    <p:sldId id="263" r:id="rId9"/>
    <p:sldId id="264" r:id="rId10"/>
    <p:sldId id="266" r:id="rId11"/>
    <p:sldId id="265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RMAN" initials="G" lastIdx="1" clrIdx="0">
    <p:extLst>
      <p:ext uri="{19B8F6BF-5375-455C-9EA6-DF929625EA0E}">
        <p15:presenceInfo xmlns:p15="http://schemas.microsoft.com/office/powerpoint/2012/main" userId="GER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7T16:30:56.672" idx="1">
    <p:pos x="10" y="10"/>
    <p:text>Изменить логотип - стилизованный глаз, вместо зрачка рабочий в каске</p:text>
    <p:extLst>
      <p:ext uri="{C676402C-5697-4E1C-873F-D02D1690AC5C}">
        <p15:threadingInfo xmlns:p15="http://schemas.microsoft.com/office/powerpoint/2012/main" timeZoneBias="-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F056E-148B-4291-BA67-B97097F0F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4BB0F7-48CC-4F55-A54D-F75E31C19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F1E6E-2BFC-41CC-8A4C-958946FA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8A818-2FA3-46B9-A216-02FB5493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B01F1-33FC-4D85-815B-31D315CE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50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92BE7-7944-4231-8E5D-9CD5041D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4200B6-9D8E-4946-A94F-D0BC14885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F7366-3FD9-4CC3-A4FA-FC65E411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E7CA6F-7F4E-4A96-B1E4-37CAABABC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6E497D-9EA8-410C-B5D9-0F0AC098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40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186C9-B4FD-47B9-B1B5-CB2241A3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FD34CE-3289-4854-A5DC-E5766FC12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D5B5D-EF08-4620-A550-3A529ABC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62B08A-9084-475E-A15F-BC0346A9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FDAFF0-72D5-4672-9F3B-44C10B19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6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B98CF-EF6E-4310-AECE-AF24C78F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05E6FF-A84B-41C5-A2F7-4F0BD67E3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840D57-165C-414A-8ECB-FD071CFE3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B01177-2553-4315-8D48-8D1F6A37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6A7B9E-03BC-4401-AE60-247AB036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5F506E-0AFF-4BD5-9684-EEF8AC30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27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BD65C-2724-4BD5-9835-2C9A3C37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281C2-EC90-41DB-A631-3EB4BBFD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4A4680-AA0E-41C8-90A2-28B593344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2D15B4-DBA6-497F-A3FC-7CA48090B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D19D66-49C5-4572-9AC5-019AB4031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42E637-561D-4FE6-907A-1ECFC861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D42D81-BB0E-4834-911A-84848D0C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F6F6BA-6EFE-4B49-9DA3-F6663314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52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3CBA8-DDFE-4929-A1ED-21E7186A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A5971A-CB28-4B1B-94D3-49B109E4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A26B99-050D-4387-896B-0B05BC75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048B20-D050-491C-9D56-9F3E66D8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2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8FE3CFC-C7DE-43BC-8C75-512D05E4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23A48B-1755-4516-A089-94CFC7C4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B59069-543C-4A2E-B7B2-B461AF17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7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4CBA1-B0F4-4FD3-8E3D-262595CD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00FA6-5418-45AB-B462-09680F5DC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030F61-5E4E-42B4-9D97-8A6983BC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52062D-FF14-4DE6-9BCE-5B8C6503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04EBCE-186A-4667-B4CE-4631DC4C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B852D8-2FF2-405B-9C3A-78927554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92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091FB-8747-4915-92F2-57C399D0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276237-EEDB-4695-9DE2-A8C5B1A9C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B93792-17ED-4D26-BA29-C60472115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253FDF-CE32-4A61-BE1B-2494763A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D63A2-B4D6-490F-A1ED-219DD3F4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B37028-DE34-4E14-BF5C-9AD27DEA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9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03D71-ACA8-4851-AB06-EC2CD2A8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DE074E-F4D9-49EE-9D09-C8591F758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85EBA1-DDF6-4E0C-B069-A435175F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E10C61-D5CF-497C-BBDF-E7219420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6C685F-B19E-40F8-AE72-03C3420F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33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CFA90A-6BFD-45D7-A57A-34F9CE8D9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42FD7F-CE59-4F4D-9D7F-FD2982357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C09425-7E67-4B99-8D7C-175596F2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5D865-CA53-42A3-9A30-E03EB296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2E9A19-6ED8-456C-8404-5C901F12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46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D2AC1-1F51-40E8-8070-1B3A77E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EACA0-79E6-48A6-A349-5357D49A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EB72D4-E9C1-460E-9081-070EF76BF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CAB89-E578-43F5-9B7C-DC8620EA342D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F047DA-40CB-40D8-BA5A-F78738ED5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0315B8-E508-4D5E-B20C-1AC6256D9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74693-37B7-44A9-A84D-C0BAE00CDF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78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1986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Проект</a:t>
            </a:r>
            <a:r>
              <a:rPr lang="en-US" dirty="0"/>
              <a:t> “Provision”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6DC4C-33EF-4385-9CA3-46AFFC718CE6}"/>
              </a:ext>
            </a:extLst>
          </p:cNvPr>
          <p:cNvSpPr txBox="1"/>
          <p:nvPr/>
        </p:nvSpPr>
        <p:spPr>
          <a:xfrm>
            <a:off x="3865033" y="6112933"/>
            <a:ext cx="5681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Мы видим риски — прежде, чем они станут проблемой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FA9A28-0562-499B-98DF-73E73B3B6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233" y="1066800"/>
            <a:ext cx="4461933" cy="44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8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Решаемые проблемы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E566C1-ED85-4BAF-BF55-A7602952882A}"/>
              </a:ext>
            </a:extLst>
          </p:cNvPr>
          <p:cNvSpPr/>
          <p:nvPr/>
        </p:nvSpPr>
        <p:spPr>
          <a:xfrm>
            <a:off x="401053" y="896292"/>
            <a:ext cx="307366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1. Нарушения техники безопасности на производстве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Работники не всегда носят каски, жилеты или спецодежду.</a:t>
            </a:r>
            <a:br>
              <a:rPr lang="ru-RU" sz="1200" dirty="0"/>
            </a:br>
            <a:r>
              <a:rPr lang="ru-RU" sz="1200" dirty="0"/>
              <a:t>➡️ </a:t>
            </a:r>
            <a:r>
              <a:rPr lang="ru-RU" sz="1200" i="1" dirty="0"/>
              <a:t>Система автоматически фиксирует отсутствие СИЗ и предупреждает персонал и службу безопасности.</a:t>
            </a:r>
            <a:endParaRPr lang="ru-RU" sz="1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DDF651-863B-4184-B6FF-85A66C992C1C}"/>
              </a:ext>
            </a:extLst>
          </p:cNvPr>
          <p:cNvSpPr/>
          <p:nvPr/>
        </p:nvSpPr>
        <p:spPr>
          <a:xfrm>
            <a:off x="6618973" y="2459504"/>
            <a:ext cx="25282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4. Травматизм и человеческий фактор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Несчастные случаи из-за невнимательности или усталости сотрудников.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Сложно вовремя заметить нарушения.</a:t>
            </a:r>
            <a:br>
              <a:rPr lang="ru-RU" sz="1200" dirty="0"/>
            </a:br>
            <a:r>
              <a:rPr lang="ru-RU" sz="1200" dirty="0"/>
              <a:t>➡️ </a:t>
            </a:r>
            <a:r>
              <a:rPr lang="ru-RU" sz="1200" i="1" dirty="0"/>
              <a:t>Программа снижает риск инцидентов, так как реагирует мгновенно.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42E4A7-0EE1-4102-B7C8-DB94DB31B15D}"/>
              </a:ext>
            </a:extLst>
          </p:cNvPr>
          <p:cNvSpPr/>
          <p:nvPr/>
        </p:nvSpPr>
        <p:spPr>
          <a:xfrm>
            <a:off x="401053" y="3851642"/>
            <a:ext cx="26020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2. Попадание персонала в опасные или запретные зоны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Отсутствие постоянного контроля за перемещениями людей.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Ошибки при разграничении зон доступа и инструктировании.</a:t>
            </a:r>
            <a:br>
              <a:rPr lang="ru-RU" sz="1200" dirty="0"/>
            </a:br>
            <a:r>
              <a:rPr lang="ru-RU" sz="1200" dirty="0"/>
              <a:t>➡️ </a:t>
            </a:r>
            <a:r>
              <a:rPr lang="ru-RU" sz="1200" i="1" dirty="0"/>
              <a:t>Система отслеживает передвижения и сигнализирует при пересечении опасных границ.</a:t>
            </a:r>
            <a:endParaRPr lang="ru-RU" sz="12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BB7055-66EB-41AB-A49C-F3A083E37765}"/>
              </a:ext>
            </a:extLst>
          </p:cNvPr>
          <p:cNvSpPr/>
          <p:nvPr/>
        </p:nvSpPr>
        <p:spPr>
          <a:xfrm>
            <a:off x="3639954" y="2024755"/>
            <a:ext cx="261165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3. Потеря производительности при ручном контроле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Много времени уходит на обходы и проверки, приходится привлекать много персонала к проверкам.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Контроль визуальный и выборочный, часто неэффективный.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Руководство не имеет объективных данных о соблюдении правил</a:t>
            </a:r>
            <a:br>
              <a:rPr lang="ru-RU" sz="1200" dirty="0"/>
            </a:br>
            <a:r>
              <a:rPr lang="ru-RU" sz="1200" dirty="0"/>
              <a:t>➡️ </a:t>
            </a:r>
            <a:r>
              <a:rPr lang="ru-RU" sz="1200" i="1" dirty="0"/>
              <a:t>Автоматизация контроля снижает нагрузку на службу охраны труда и повышает эффективность.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8884366-8F57-4690-BAF7-D6E30DD5F858}"/>
              </a:ext>
            </a:extLst>
          </p:cNvPr>
          <p:cNvSpPr/>
          <p:nvPr/>
        </p:nvSpPr>
        <p:spPr>
          <a:xfrm>
            <a:off x="9147208" y="970417"/>
            <a:ext cx="3048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5. Риск штрафов и претензий от надзорных органов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Зафиксированные нарушения техники безопасности могут привести к крупным штрафам.</a:t>
            </a:r>
            <a:br>
              <a:rPr lang="ru-RU" sz="1200" dirty="0"/>
            </a:br>
            <a:r>
              <a:rPr lang="ru-RU" sz="1200" dirty="0"/>
              <a:t>➡️ </a:t>
            </a:r>
            <a:r>
              <a:rPr lang="ru-RU" sz="1200" i="1" dirty="0"/>
              <a:t>Система помогает заранее выявлять нарушения и предотвращать последствия.</a:t>
            </a:r>
            <a:endParaRPr lang="ru-RU" sz="12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20B6E13-2F51-4FB6-9657-F704320D0131}"/>
              </a:ext>
            </a:extLst>
          </p:cNvPr>
          <p:cNvSpPr/>
          <p:nvPr/>
        </p:nvSpPr>
        <p:spPr>
          <a:xfrm>
            <a:off x="9076623" y="4036308"/>
            <a:ext cx="35709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6. Репутационные риски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Несчастные случаи требуют длительных разбирательств и выплаты компенсации.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Несчастные случаи или нарушения техники безопасности портят имидж предприятия.</a:t>
            </a:r>
          </a:p>
          <a:p>
            <a:r>
              <a:rPr lang="ru-RU" sz="1200" dirty="0"/>
              <a:t>➡️ </a:t>
            </a:r>
            <a:r>
              <a:rPr lang="ru-RU" sz="1200" i="1" dirty="0"/>
              <a:t>Цифровой контроль демонстрирует современный подход и заботу о людях.</a:t>
            </a:r>
            <a:endParaRPr lang="ru-RU" sz="1200" dirty="0"/>
          </a:p>
          <a:p>
            <a:endParaRPr lang="ru-RU" sz="12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97B80E-113D-492E-9CCA-98AA9A66F1CD}"/>
              </a:ext>
            </a:extLst>
          </p:cNvPr>
          <p:cNvSpPr/>
          <p:nvPr/>
        </p:nvSpPr>
        <p:spPr>
          <a:xfrm>
            <a:off x="3570973" y="6080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i="1" dirty="0"/>
              <a:t>Программа формирует аналитику, помогает выявить проблемные зоны и планировать профилактику.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C20C537-727D-47C1-B673-97834B7275CE}"/>
              </a:ext>
            </a:extLst>
          </p:cNvPr>
          <p:cNvCxnSpPr/>
          <p:nvPr/>
        </p:nvCxnSpPr>
        <p:spPr>
          <a:xfrm>
            <a:off x="3505200" y="1280160"/>
            <a:ext cx="1066800" cy="67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BD0E1D4-DFCA-4BCC-8181-E385F5F24E73}"/>
              </a:ext>
            </a:extLst>
          </p:cNvPr>
          <p:cNvCxnSpPr/>
          <p:nvPr/>
        </p:nvCxnSpPr>
        <p:spPr>
          <a:xfrm flipV="1">
            <a:off x="3474720" y="4517745"/>
            <a:ext cx="808522" cy="602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BA4A565-85D8-41D4-8533-52D3F1C0D2F5}"/>
              </a:ext>
            </a:extLst>
          </p:cNvPr>
          <p:cNvCxnSpPr/>
          <p:nvPr/>
        </p:nvCxnSpPr>
        <p:spPr>
          <a:xfrm>
            <a:off x="6323798" y="3359217"/>
            <a:ext cx="202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D95F3E73-2242-4BB8-8B28-33D68DEC6C57}"/>
              </a:ext>
            </a:extLst>
          </p:cNvPr>
          <p:cNvCxnSpPr/>
          <p:nvPr/>
        </p:nvCxnSpPr>
        <p:spPr>
          <a:xfrm flipV="1">
            <a:off x="7729086" y="1588789"/>
            <a:ext cx="1347537" cy="69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382AF9F-EC37-4DCA-A099-BB434A9829D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162223" y="4610502"/>
            <a:ext cx="914400" cy="210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537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2450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Ожидаемый результат 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625E5FF-5E7E-4782-82A4-40D78E3BADCF}"/>
              </a:ext>
            </a:extLst>
          </p:cNvPr>
          <p:cNvSpPr/>
          <p:nvPr/>
        </p:nvSpPr>
        <p:spPr>
          <a:xfrm>
            <a:off x="1270536" y="705304"/>
            <a:ext cx="115310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1. Снижение травматизма и инцидентов</a:t>
            </a:r>
          </a:p>
          <a:p>
            <a:r>
              <a:rPr lang="ru-RU" sz="1200" dirty="0"/>
              <a:t>- Минимизация случаев нарушений техники безопасности.</a:t>
            </a:r>
          </a:p>
          <a:p>
            <a:r>
              <a:rPr lang="ru-RU" sz="1200" dirty="0"/>
              <a:t>- Предотвращение несчастных случаев, связанных с отсутствием каски, жилета, пересечением запретных зон.</a:t>
            </a:r>
          </a:p>
          <a:p>
            <a:r>
              <a:rPr lang="ru-RU" sz="1200" dirty="0"/>
              <a:t>- Рост фактической безопасности персонала.</a:t>
            </a:r>
          </a:p>
          <a:p>
            <a:endParaRPr lang="ru-RU" sz="1200" dirty="0"/>
          </a:p>
          <a:p>
            <a:r>
              <a:rPr lang="ru-RU" sz="1200" dirty="0"/>
              <a:t>2. Повышение дисциплины и культуры безопасности</a:t>
            </a:r>
          </a:p>
          <a:p>
            <a:r>
              <a:rPr lang="ru-RU" sz="1200" dirty="0"/>
              <a:t>- Сотрудники осознают, что контроль постоянен и объективен.</a:t>
            </a:r>
          </a:p>
          <a:p>
            <a:r>
              <a:rPr lang="ru-RU" sz="1200" dirty="0"/>
              <a:t>- Меньше халатности, больше соблюдения правил.</a:t>
            </a:r>
          </a:p>
          <a:p>
            <a:r>
              <a:rPr lang="ru-RU" sz="1200" dirty="0"/>
              <a:t>- Формирование культуры ответственного поведения.</a:t>
            </a:r>
          </a:p>
          <a:p>
            <a:endParaRPr lang="ru-RU" sz="1200" dirty="0"/>
          </a:p>
          <a:p>
            <a:r>
              <a:rPr lang="ru-RU" sz="1200" dirty="0"/>
              <a:t>3. Снижение затрат на контроль и расследования</a:t>
            </a:r>
          </a:p>
          <a:p>
            <a:r>
              <a:rPr lang="ru-RU" sz="1200" dirty="0"/>
              <a:t>- Меньше ручных проверок и обходов.</a:t>
            </a:r>
          </a:p>
          <a:p>
            <a:r>
              <a:rPr lang="ru-RU" sz="1200" dirty="0"/>
              <a:t>- Быстрое выявление нарушений, меньше простоев.</a:t>
            </a:r>
          </a:p>
          <a:p>
            <a:r>
              <a:rPr lang="ru-RU" sz="1200" dirty="0"/>
              <a:t>- Экономия времени и трудозатрат службы охраны труда.</a:t>
            </a:r>
          </a:p>
          <a:p>
            <a:endParaRPr lang="ru-RU" sz="1200" dirty="0"/>
          </a:p>
          <a:p>
            <a:r>
              <a:rPr lang="ru-RU" sz="1200" dirty="0"/>
              <a:t>4. Снижение штрафов и претензий со стороны надзорных органов</a:t>
            </a:r>
          </a:p>
          <a:p>
            <a:r>
              <a:rPr lang="ru-RU" sz="1200" dirty="0"/>
              <a:t>- Документально подтверждается, что контроль за соблюдением мер безопасности ведётся системно.</a:t>
            </a:r>
          </a:p>
          <a:p>
            <a:r>
              <a:rPr lang="ru-RU" sz="1200" dirty="0"/>
              <a:t>- Уменьшение финансовых рисков и повышение доверия проверяющих органов.</a:t>
            </a:r>
          </a:p>
          <a:p>
            <a:endParaRPr lang="ru-RU" sz="1200" dirty="0"/>
          </a:p>
          <a:p>
            <a:r>
              <a:rPr lang="ru-RU" sz="1200" dirty="0"/>
              <a:t>5. Повышение прозрачности и управляемости процессов</a:t>
            </a:r>
          </a:p>
          <a:p>
            <a:r>
              <a:rPr lang="ru-RU" sz="1200" dirty="0"/>
              <a:t>- Система фиксирует все события в базе данных.</a:t>
            </a:r>
          </a:p>
          <a:p>
            <a:r>
              <a:rPr lang="ru-RU" sz="1200" dirty="0"/>
              <a:t>- Руководство получает отчёты, статистику, </a:t>
            </a:r>
            <a:r>
              <a:rPr lang="ru-RU" sz="1200" dirty="0" err="1"/>
              <a:t>видеоподтверждения</a:t>
            </a:r>
            <a:r>
              <a:rPr lang="ru-RU" sz="1200" dirty="0"/>
              <a:t>.</a:t>
            </a:r>
          </a:p>
          <a:p>
            <a:r>
              <a:rPr lang="ru-RU" sz="1200" dirty="0"/>
              <a:t>- Принятие решений на основе данных (</a:t>
            </a:r>
            <a:r>
              <a:rPr lang="ru-RU" sz="1200" dirty="0" err="1"/>
              <a:t>data-driven</a:t>
            </a:r>
            <a:r>
              <a:rPr lang="ru-RU" sz="1200" dirty="0"/>
              <a:t> </a:t>
            </a:r>
            <a:r>
              <a:rPr lang="ru-RU" sz="1200" dirty="0" err="1"/>
              <a:t>safety</a:t>
            </a:r>
            <a:r>
              <a:rPr lang="ru-RU" sz="1200" dirty="0"/>
              <a:t>).</a:t>
            </a:r>
          </a:p>
          <a:p>
            <a:endParaRPr lang="ru-RU" sz="1200" dirty="0"/>
          </a:p>
          <a:p>
            <a:r>
              <a:rPr lang="ru-RU" sz="1200" dirty="0"/>
              <a:t>6. Быстрая реакция на нарушения</a:t>
            </a:r>
          </a:p>
          <a:p>
            <a:r>
              <a:rPr lang="ru-RU" sz="1200" dirty="0"/>
              <a:t>- Система подаёт сигнал мгновенно.</a:t>
            </a:r>
          </a:p>
          <a:p>
            <a:r>
              <a:rPr lang="ru-RU" sz="1200" dirty="0"/>
              <a:t>- Служба охраны труда может немедленно устранить риск.</a:t>
            </a:r>
          </a:p>
          <a:p>
            <a:r>
              <a:rPr lang="ru-RU" sz="1200" dirty="0"/>
              <a:t>- Предупреждение инцидентов в реальном времени.</a:t>
            </a:r>
          </a:p>
          <a:p>
            <a:endParaRPr lang="ru-RU" sz="1200" dirty="0"/>
          </a:p>
          <a:p>
            <a:r>
              <a:rPr lang="ru-RU" sz="1200" dirty="0"/>
              <a:t>7. Аналитика и прогнозирование</a:t>
            </a:r>
          </a:p>
          <a:p>
            <a:r>
              <a:rPr lang="ru-RU" sz="1200" dirty="0"/>
              <a:t>- Накопленные данные позволяют выявлять опасные участки и время пиковых нарушений.</a:t>
            </a:r>
          </a:p>
          <a:p>
            <a:r>
              <a:rPr lang="ru-RU" sz="1200" dirty="0"/>
              <a:t>- Переход от реакции к прогнозированию рисков.</a:t>
            </a:r>
          </a:p>
        </p:txBody>
      </p:sp>
    </p:spTree>
    <p:extLst>
      <p:ext uri="{BB962C8B-B14F-4D97-AF65-F5344CB8AC3E}">
        <p14:creationId xmlns:p14="http://schemas.microsoft.com/office/powerpoint/2010/main" val="110076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1556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Схема работы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42F7CA0-A295-478A-9D5C-A17F65D090DD}"/>
              </a:ext>
            </a:extLst>
          </p:cNvPr>
          <p:cNvSpPr/>
          <p:nvPr/>
        </p:nvSpPr>
        <p:spPr>
          <a:xfrm>
            <a:off x="4809066" y="2226732"/>
            <a:ext cx="1591734" cy="1202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Provision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0130288-DA1A-4B22-B07A-276FD18CD716}"/>
              </a:ext>
            </a:extLst>
          </p:cNvPr>
          <p:cNvSpPr/>
          <p:nvPr/>
        </p:nvSpPr>
        <p:spPr>
          <a:xfrm>
            <a:off x="2373010" y="1232121"/>
            <a:ext cx="1717725" cy="12022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Система мониторинга и уведомлений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1978EDE-B637-4D8B-8831-FE9B67330796}"/>
              </a:ext>
            </a:extLst>
          </p:cNvPr>
          <p:cNvSpPr/>
          <p:nvPr/>
        </p:nvSpPr>
        <p:spPr>
          <a:xfrm>
            <a:off x="7281895" y="1232121"/>
            <a:ext cx="1717726" cy="12022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Панель  администратора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B23F2DA-D8B3-4BA9-AA1E-9D5B001E0342}"/>
              </a:ext>
            </a:extLst>
          </p:cNvPr>
          <p:cNvSpPr/>
          <p:nvPr/>
        </p:nvSpPr>
        <p:spPr>
          <a:xfrm>
            <a:off x="9754822" y="1232122"/>
            <a:ext cx="1717726" cy="120226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Управление камерами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8742362-D4BF-4EF4-B544-4E14B15AB806}"/>
              </a:ext>
            </a:extLst>
          </p:cNvPr>
          <p:cNvSpPr/>
          <p:nvPr/>
        </p:nvSpPr>
        <p:spPr>
          <a:xfrm>
            <a:off x="2356968" y="3822479"/>
            <a:ext cx="1717725" cy="12022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Кабинет сотрудника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62BDA09-32DD-4FB6-B6DF-5D5F4916FA32}"/>
              </a:ext>
            </a:extLst>
          </p:cNvPr>
          <p:cNvSpPr/>
          <p:nvPr/>
        </p:nvSpPr>
        <p:spPr>
          <a:xfrm>
            <a:off x="7281895" y="3822479"/>
            <a:ext cx="1717725" cy="12022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Расследование инцидентов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0708C96-3179-4A86-9111-0E6A1E02A0BE}"/>
              </a:ext>
            </a:extLst>
          </p:cNvPr>
          <p:cNvSpPr/>
          <p:nvPr/>
        </p:nvSpPr>
        <p:spPr>
          <a:xfrm>
            <a:off x="4746070" y="224591"/>
            <a:ext cx="1717725" cy="12022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Отчётная система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8904D4F-79B9-4B99-B171-1DCBDB7D4061}"/>
              </a:ext>
            </a:extLst>
          </p:cNvPr>
          <p:cNvSpPr/>
          <p:nvPr/>
        </p:nvSpPr>
        <p:spPr>
          <a:xfrm>
            <a:off x="3510828" y="5479534"/>
            <a:ext cx="1717725" cy="120226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Кадровая система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05FCA35-E983-4850-8E97-AAAA029401B0}"/>
              </a:ext>
            </a:extLst>
          </p:cNvPr>
          <p:cNvSpPr/>
          <p:nvPr/>
        </p:nvSpPr>
        <p:spPr>
          <a:xfrm>
            <a:off x="5740399" y="5479534"/>
            <a:ext cx="1717725" cy="120226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Бухгалтерская система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C2D2DB7-6CEA-4BA1-809E-7916BC9FB69E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4090735" y="1833255"/>
            <a:ext cx="768852" cy="431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30A40D8-440A-4D6A-A8C0-78FF975C8718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5604932" y="1426858"/>
            <a:ext cx="1" cy="799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75C4218-FF91-4945-9DC2-933417794DFF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400800" y="1833255"/>
            <a:ext cx="881095" cy="469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A07C578-8D61-4794-A3C5-9CDFAB9D501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999621" y="1833255"/>
            <a:ext cx="7552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939752CE-A081-4D23-97F0-EA49501002F6}"/>
              </a:ext>
            </a:extLst>
          </p:cNvPr>
          <p:cNvCxnSpPr>
            <a:cxnSpLocks/>
          </p:cNvCxnSpPr>
          <p:nvPr/>
        </p:nvCxnSpPr>
        <p:spPr>
          <a:xfrm flipH="1">
            <a:off x="4074693" y="3367691"/>
            <a:ext cx="784894" cy="577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EF27632D-327E-4C32-96FE-80C2A272BE67}"/>
              </a:ext>
            </a:extLst>
          </p:cNvPr>
          <p:cNvCxnSpPr/>
          <p:nvPr/>
        </p:nvCxnSpPr>
        <p:spPr>
          <a:xfrm>
            <a:off x="6400800" y="3367691"/>
            <a:ext cx="881095" cy="518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1E52C3BE-196C-494C-949D-084237C33D80}"/>
              </a:ext>
            </a:extLst>
          </p:cNvPr>
          <p:cNvCxnSpPr>
            <a:endCxn id="11" idx="0"/>
          </p:cNvCxnSpPr>
          <p:nvPr/>
        </p:nvCxnSpPr>
        <p:spPr>
          <a:xfrm rot="5400000">
            <a:off x="3962045" y="3836645"/>
            <a:ext cx="2050535" cy="123524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80B0B79-6457-4699-92E6-428079F604BC}"/>
              </a:ext>
            </a:extLst>
          </p:cNvPr>
          <p:cNvCxnSpPr>
            <a:stCxn id="2" idx="2"/>
            <a:endCxn id="12" idx="0"/>
          </p:cNvCxnSpPr>
          <p:nvPr/>
        </p:nvCxnSpPr>
        <p:spPr>
          <a:xfrm rot="16200000" flipH="1">
            <a:off x="5076830" y="3957101"/>
            <a:ext cx="2050535" cy="9943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8C1D3BB-9460-42A5-BDED-8FADCFC811A3}"/>
              </a:ext>
            </a:extLst>
          </p:cNvPr>
          <p:cNvSpPr txBox="1"/>
          <p:nvPr/>
        </p:nvSpPr>
        <p:spPr>
          <a:xfrm>
            <a:off x="8675602" y="5625878"/>
            <a:ext cx="3489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Система располагается на серверах предприятия. Данные не покидают защищённый контур.</a:t>
            </a:r>
          </a:p>
        </p:txBody>
      </p:sp>
    </p:spTree>
    <p:extLst>
      <p:ext uri="{BB962C8B-B14F-4D97-AF65-F5344CB8AC3E}">
        <p14:creationId xmlns:p14="http://schemas.microsoft.com/office/powerpoint/2010/main" val="333834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912618" y="74579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Наличие СИЗ на рабочих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DE3BED-C879-4ED5-AF40-D6F22BF5F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125" y="589465"/>
            <a:ext cx="6172200" cy="617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33213E-0883-407C-B2DE-79255B2F7BFD}"/>
              </a:ext>
            </a:extLst>
          </p:cNvPr>
          <p:cNvSpPr txBox="1"/>
          <p:nvPr/>
        </p:nvSpPr>
        <p:spPr>
          <a:xfrm>
            <a:off x="0" y="443911"/>
            <a:ext cx="563077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Поиск человеческой фигуры в кадре и построение границ фигуры. Работа с зонами интереса;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Распознавание средств индивидуальной защиты: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Каска, жилет, защитные очки, перчатки;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Другие элементы СИЗ (например, </a:t>
            </a:r>
            <a:r>
              <a:rPr lang="ru-RU" dirty="0" err="1"/>
              <a:t>распираторов</a:t>
            </a:r>
            <a:r>
              <a:rPr lang="ru-RU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Определение нарушений в режиме реального времени;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Идентификация конкретного сотрудника (интеграция с системой контроля доступа и кадровой системы);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Автоматическая подача звукового или светового сигнала;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Отправка уведомлений ответственным лицам (в мессенджер, по электронной почте, в кадровую систему);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в реальном времени.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Модульность – система легко масштабируется.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Гибкая настройка порогов чувствительности и типов СИЗ (например, разные цвета касок в разных цехах)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при плохом освещении, шуме, пыли.</a:t>
            </a:r>
          </a:p>
        </p:txBody>
      </p:sp>
    </p:spTree>
    <p:extLst>
      <p:ext uri="{BB962C8B-B14F-4D97-AF65-F5344CB8AC3E}">
        <p14:creationId xmlns:p14="http://schemas.microsoft.com/office/powerpoint/2010/main" val="3721242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351144" y="172006"/>
            <a:ext cx="3552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Система контроля и учёта доступа</a:t>
            </a:r>
          </a:p>
        </p:txBody>
      </p:sp>
      <p:pic>
        <p:nvPicPr>
          <p:cNvPr id="1026" name="Picture 2" descr="СКУД: система контроля и управления доступом">
            <a:extLst>
              <a:ext uri="{FF2B5EF4-FFF2-40B4-BE49-F238E27FC236}">
                <a16:creationId xmlns:a16="http://schemas.microsoft.com/office/drawing/2014/main" id="{D3B95996-E91B-4805-8564-E83D9ABF6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357" y="2177715"/>
            <a:ext cx="3850105" cy="385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DCB8B86-C9B5-4C63-A841-C3B23ECB6CB8}"/>
              </a:ext>
            </a:extLst>
          </p:cNvPr>
          <p:cNvSpPr/>
          <p:nvPr/>
        </p:nvSpPr>
        <p:spPr>
          <a:xfrm>
            <a:off x="351144" y="1112331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Распознавание лица сотрудника в реальном времени при проходе через проходную или турникет;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соответствия с базой данных допущенных сотрудников;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в разных условиях (слабое освещение, головные уборы);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наличия каски на сотруднике;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Настройка уровней доступа по подразделениям, цехам, зонам, сменам;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Блокировка доступа при увольнении или нарушении правил;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Интеграция с турникетами, шлюзами и дверными контроллерами;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Учёт времени прихода/ухода сотрудника по факту распознавания лица. Интеграция с кадровой системой;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Аналитика по опозданиям, переработкам и прогулкам;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Онлайн –панель с отображением, кто находится на территории завода в данный момент</a:t>
            </a:r>
          </a:p>
        </p:txBody>
      </p:sp>
    </p:spTree>
    <p:extLst>
      <p:ext uri="{BB962C8B-B14F-4D97-AF65-F5344CB8AC3E}">
        <p14:creationId xmlns:p14="http://schemas.microsoft.com/office/powerpoint/2010/main" val="3456912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479480" y="0"/>
            <a:ext cx="371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Автоматическое выявление пожара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08E5AB-B577-43BC-9290-74726586E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31" y="766011"/>
            <a:ext cx="6091989" cy="6091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26B2FD-49E7-4FD2-B247-25990386FA2A}"/>
              </a:ext>
            </a:extLst>
          </p:cNvPr>
          <p:cNvSpPr txBox="1"/>
          <p:nvPr/>
        </p:nvSpPr>
        <p:spPr>
          <a:xfrm>
            <a:off x="144380" y="581345"/>
            <a:ext cx="58112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Распознавание признаков возгорания – анализ видеопотока с камер в реальном времени;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и классификация дыма, обнаружение открытого пламени;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разных сценариев: пожар в помещении, открытая площадка, склад ГСМ;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Автоматический сигнал тревоги при обнаружении признаков возгорания: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Отправка уведомлений диспетчеру;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На пульт пожарной охраны;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Сохранение видеофрагментов тревожных событий;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Запись тревожных событий в журнал;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527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335101" y="155964"/>
            <a:ext cx="399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Доступ автотранспорта на территорию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4CB380C-64A3-4B4F-87EF-39E89497533E}"/>
              </a:ext>
            </a:extLst>
          </p:cNvPr>
          <p:cNvSpPr/>
          <p:nvPr/>
        </p:nvSpPr>
        <p:spPr>
          <a:xfrm>
            <a:off x="112295" y="1068488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Определение госномера автомобиля в режиме реального времени;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Распознавание марки, модели, цвета и типа кузова;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Определение спецтехники;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номера в базе разрешённых транспортных средств, проверка соответствия марки, модели и цвета;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качества распознавания номера (например – грязь или частично закрытые номера);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Сигнал контроллеру шлагбаума или ворот на открытие;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создания временных, разовых или постоянных пропусков;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гибкой настройки доступа: по зонам (склад, цех, зона отгрузки), по дням недели и времени суток;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привязки автомобиля к конкретному сотруднику;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Сигнал охране, в случае если посторонний автомобиль долго находится в зоне интереса;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Онлайн табло и ведение истории проездов;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Гибкая отчётная система с фильтрами.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C4FD08-95CB-4C1D-9245-08F32C66D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726" y="458888"/>
            <a:ext cx="6200274" cy="620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5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254891" y="123881"/>
            <a:ext cx="258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Контроль запретных зон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29D833-1029-4E62-868E-D1E4AF7F8734}"/>
              </a:ext>
            </a:extLst>
          </p:cNvPr>
          <p:cNvSpPr/>
          <p:nvPr/>
        </p:nvSpPr>
        <p:spPr>
          <a:xfrm>
            <a:off x="0" y="612844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Определение присутствия человека в кадре;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Определение пересечения виртуальной линии или входа в запретную зону;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Гибкая настройка виртуальных границ, областей и контуров;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Распределение зон по типам и уровням опасности;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Автоматическая подача тревожного сигнала при нарушении;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разных уровней тревоги «предупреждение – опасность – авария»;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Ведение журнала всех инцидентов с записью видеофрагмента;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Настройка разных сценариев для каждой зоны;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Настройка распознавания конкретных сотрудников;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работы с расписаниями и технологическими окнами на обслуживание оборудования;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Выявление зон, в которых наиболее часто происходят нарушения. Динамика по зонам и сменам;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даже в плохих условиях (дым, пыль, неравномерный свет).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19C313-F208-4F11-9171-779121A6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354" y="230605"/>
            <a:ext cx="6396789" cy="639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7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211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Кабинет дежурного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9873E95-8BEE-4A06-B227-E300A9D64B72}"/>
              </a:ext>
            </a:extLst>
          </p:cNvPr>
          <p:cNvSpPr/>
          <p:nvPr/>
        </p:nvSpPr>
        <p:spPr>
          <a:xfrm>
            <a:off x="0" y="612844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Отображение видеопотоков с камер. Автоматическая </a:t>
            </a:r>
            <a:r>
              <a:rPr lang="ru-RU" dirty="0" err="1"/>
              <a:t>приоретизация</a:t>
            </a:r>
            <a:r>
              <a:rPr lang="ru-RU" dirty="0"/>
              <a:t> камер с выявленными нарушениями;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Сигнализация о плохом изображении с камеры (пыль, дым, засветка);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Группировка камер по расположению, по назначению камер;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Визуальная и звуковая индикация тревог;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Отображение состояния всех систем безопасности на одной панели.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просмотра видеокадра или короткого </a:t>
            </a:r>
            <a:r>
              <a:rPr lang="ru-RU" dirty="0" err="1"/>
              <a:t>видеоэпизода</a:t>
            </a:r>
            <a:r>
              <a:rPr lang="ru-RU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Быстрая классификация тревоги (реальная, ложная, требует проверки). Назначение ответственного за расследование.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Интерактивная карта и отображение всех камер и зон;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работы на видеостене.</a:t>
            </a:r>
          </a:p>
        </p:txBody>
      </p:sp>
    </p:spTree>
    <p:extLst>
      <p:ext uri="{BB962C8B-B14F-4D97-AF65-F5344CB8AC3E}">
        <p14:creationId xmlns:p14="http://schemas.microsoft.com/office/powerpoint/2010/main" val="141797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128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Отчётность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83F01C-F81E-4D8D-BEB8-C63817DD77C7}"/>
              </a:ext>
            </a:extLst>
          </p:cNvPr>
          <p:cNvSpPr/>
          <p:nvPr/>
        </p:nvSpPr>
        <p:spPr>
          <a:xfrm>
            <a:off x="0" y="61284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Автоматический сбор информации со всех подсистем;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Централизованное хранилище инцидентов и тревог;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просмотра видеокадра или короткого </a:t>
            </a:r>
            <a:r>
              <a:rPr lang="ru-RU" dirty="0" err="1"/>
              <a:t>видеоэпизода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Гибкая система фильтров (дата и время, тип события, цех или камера, уровень опасности, сотрудник-нарушитель, смена);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Быстрая классификация тревоги (реальная, ложная, требует проверки). Назначение ответственного за расследование.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Интерактивная карта и отображение всех камер и зон;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Возможность работы на видеостене;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Динамические диаграммы и графики;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</a:t>
            </a:r>
            <a:r>
              <a:rPr lang="en-US" dirty="0"/>
              <a:t>KPI</a:t>
            </a:r>
            <a:r>
              <a:rPr lang="ru-RU" dirty="0"/>
              <a:t> по охране труда;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Интеграция с </a:t>
            </a:r>
            <a:r>
              <a:rPr lang="en-US" dirty="0"/>
              <a:t>BI</a:t>
            </a:r>
            <a:r>
              <a:rPr lang="ru-RU" dirty="0"/>
              <a:t>-платформами и выгрузка в </a:t>
            </a:r>
            <a:r>
              <a:rPr lang="en-US" dirty="0"/>
              <a:t>Excel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Гибкая система доступа;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Автоматическая отправка отчёта на электронную почту.</a:t>
            </a:r>
          </a:p>
        </p:txBody>
      </p:sp>
    </p:spTree>
    <p:extLst>
      <p:ext uri="{BB962C8B-B14F-4D97-AF65-F5344CB8AC3E}">
        <p14:creationId xmlns:p14="http://schemas.microsoft.com/office/powerpoint/2010/main" val="324941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83334-24C8-42A4-81DE-93B01F91C62C}"/>
              </a:ext>
            </a:extLst>
          </p:cNvPr>
          <p:cNvSpPr txBox="1"/>
          <p:nvPr/>
        </p:nvSpPr>
        <p:spPr>
          <a:xfrm>
            <a:off x="880533" y="220133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Дальнейшее развитие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E5E8F7-04BA-431F-96ED-0D5B67507846}"/>
              </a:ext>
            </a:extLst>
          </p:cNvPr>
          <p:cNvSpPr/>
          <p:nvPr/>
        </p:nvSpPr>
        <p:spPr>
          <a:xfrm>
            <a:off x="0" y="61284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падения людей, в том числе в опасных зонах;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оставленных предметов в опасных зонах;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Контроль соблюдения ПДД на территории и скоростного режима;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массового скопления людей или драк;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бродячих животных;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человека, использующего мобильный телефон;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поведения сотрудников для повышения их производительности;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маршрутов людей и времени, проводимого ими в ключевых точках;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 вредных выбросов из труб и скопления мусора;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Подсчёт времени, </a:t>
            </a:r>
            <a:r>
              <a:rPr lang="ru-RU"/>
              <a:t>проводимого сотрудниками в той или иной зоне.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88BB3C-DC8F-4610-A9B5-BD52C169E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889" y="404799"/>
            <a:ext cx="6037111" cy="603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969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1313</Words>
  <Application>Microsoft Office PowerPoint</Application>
  <PresentationFormat>Широкоэкранный</PresentationFormat>
  <Paragraphs>160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GERMAN</dc:creator>
  <cp:lastModifiedBy>GERMAN</cp:lastModifiedBy>
  <cp:revision>27</cp:revision>
  <dcterms:created xsi:type="dcterms:W3CDTF">2025-10-16T07:24:30Z</dcterms:created>
  <dcterms:modified xsi:type="dcterms:W3CDTF">2025-10-21T11:41:42Z</dcterms:modified>
</cp:coreProperties>
</file>