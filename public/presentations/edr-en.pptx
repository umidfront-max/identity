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4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21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p Envy" initials="HE" lastIdx="1" clrIdx="0">
    <p:extLst>
      <p:ext uri="{19B8F6BF-5375-455C-9EA6-DF929625EA0E}">
        <p15:presenceInfo xmlns:p15="http://schemas.microsoft.com/office/powerpoint/2012/main" userId="Hp Envy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0" d="100"/>
          <a:sy n="60" d="100"/>
        </p:scale>
        <p:origin x="88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912349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identity-uz.com" TargetMode="External"/><Relationship Id="rId4" Type="http://schemas.openxmlformats.org/officeDocument/2006/relationships/image" Target="../media/image2.png"/></Relationships>
</file>

<file path=ppt/slides/_rels/slide2.xml.rels><?xml version="1.0" encoding="UTF-8" standalone="yes"?>
<Relationships xmlns="http://schemas.openxmlformats.org/package/2006/relationships"><Relationship Id="rId8" Type="http://schemas.openxmlformats.org/officeDocument/2006/relationships/image" Target="../media/d2-image7.png"/><Relationship Id="rId3" Type="http://schemas.openxmlformats.org/officeDocument/2006/relationships/image" Target="../media/d2-evolution-dark.jpeg"/><Relationship Id="rId7" Type="http://schemas.openxmlformats.org/officeDocument/2006/relationships/image" Target="../media/d2-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d2-image5.png"/><Relationship Id="rId5" Type="http://schemas.openxmlformats.org/officeDocument/2006/relationships/image" Target="../media/d2-image4.png"/><Relationship Id="rId4" Type="http://schemas.openxmlformats.org/officeDocument/2006/relationships/image" Target="../media/d2-image2.png"/><Relationship Id="rId9" Type="http://schemas.openxmlformats.org/officeDocument/2006/relationships/image" Target="../media/d2-image8.png"/><Relationship Id="rId91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9.jpeg"/><Relationship Id="rId7" Type="http://schemas.openxmlformats.org/officeDocument/2006/relationships/image" Target="../media/image12.png"/><Relationship Id="rId12" Type="http://schemas.openxmlformats.org/officeDocument/2006/relationships/image" Target="../media/image1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2.png"/><Relationship Id="rId9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2.jpe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7.jpe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.png"/><Relationship Id="rId9" Type="http://schemas.openxmlformats.org/officeDocument/2006/relationships/image" Target="../media/image3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33.jpeg"/><Relationship Id="rId7" Type="http://schemas.openxmlformats.org/officeDocument/2006/relationships/image" Target="../media/image36.png"/><Relationship Id="rId12" Type="http://schemas.openxmlformats.org/officeDocument/2006/relationships/image" Target="../media/image3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11" Type="http://schemas.openxmlformats.org/officeDocument/2006/relationships/image" Target="../media/image26.png"/><Relationship Id="rId5" Type="http://schemas.openxmlformats.org/officeDocument/2006/relationships/image" Target="../media/image34.png"/><Relationship Id="rId10" Type="http://schemas.openxmlformats.org/officeDocument/2006/relationships/image" Target="../media/image38.png"/><Relationship Id="rId4" Type="http://schemas.openxmlformats.org/officeDocument/2006/relationships/image" Target="../media/image2.png"/><Relationship Id="rId9" Type="http://schemas.openxmlformats.org/officeDocument/2006/relationships/image" Target="../media/image3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40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42.jpeg"/><Relationship Id="rId7" Type="http://schemas.openxmlformats.org/officeDocument/2006/relationships/image" Target="../media/image4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3.png"/><Relationship Id="rId10" Type="http://schemas.openxmlformats.org/officeDocument/2006/relationships/image" Target="../media/image46.png"/><Relationship Id="rId4" Type="http://schemas.openxmlformats.org/officeDocument/2006/relationships/image" Target="../media/image2.png"/><Relationship Id="rId9" Type="http://schemas.openxmlformats.org/officeDocument/2006/relationships/image" Target="../media/image25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image" Target="../media/image47.jpeg"/><Relationship Id="rId7" Type="http://schemas.openxmlformats.org/officeDocument/2006/relationships/image" Target="../media/image5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10" Type="http://schemas.openxmlformats.org/officeDocument/2006/relationships/image" Target="../media/image53.png"/><Relationship Id="rId4" Type="http://schemas.openxmlformats.org/officeDocument/2006/relationships/image" Target="../media/image2.png"/><Relationship Id="rId9" Type="http://schemas.openxmlformats.org/officeDocument/2006/relationships/image" Target="../media/image5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3" Type="http://schemas.openxmlformats.org/officeDocument/2006/relationships/image" Target="../media/image54.jpeg"/><Relationship Id="rId7" Type="http://schemas.openxmlformats.org/officeDocument/2006/relationships/image" Target="../media/image5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3" Type="http://schemas.openxmlformats.org/officeDocument/2006/relationships/image" Target="../media/image59.jpeg"/><Relationship Id="rId7" Type="http://schemas.openxmlformats.org/officeDocument/2006/relationships/image" Target="../media/image10.png"/><Relationship Id="rId12" Type="http://schemas.openxmlformats.org/officeDocument/2006/relationships/image" Target="../media/image5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62.png"/><Relationship Id="rId5" Type="http://schemas.openxmlformats.org/officeDocument/2006/relationships/image" Target="../media/image56.png"/><Relationship Id="rId10" Type="http://schemas.openxmlformats.org/officeDocument/2006/relationships/image" Target="../media/image26.png"/><Relationship Id="rId4" Type="http://schemas.openxmlformats.org/officeDocument/2006/relationships/image" Target="../media/image2.png"/><Relationship Id="rId9" Type="http://schemas.openxmlformats.org/officeDocument/2006/relationships/image" Target="../media/image61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png"/><Relationship Id="rId3" Type="http://schemas.openxmlformats.org/officeDocument/2006/relationships/image" Target="../media/image63.jpeg"/><Relationship Id="rId7" Type="http://schemas.openxmlformats.org/officeDocument/2006/relationships/hyperlink" Target="tel:+998785551175" TargetMode="External"/><Relationship Id="rId12" Type="http://schemas.openxmlformats.org/officeDocument/2006/relationships/image" Target="../media/image6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4.png"/><Relationship Id="rId11" Type="http://schemas.openxmlformats.org/officeDocument/2006/relationships/hyperlink" Target="https://identity-uz.com" TargetMode="External"/><Relationship Id="rId5" Type="http://schemas.openxmlformats.org/officeDocument/2006/relationships/image" Target="../media/image52.png"/><Relationship Id="rId10" Type="http://schemas.openxmlformats.org/officeDocument/2006/relationships/image" Target="../media/image24.png"/><Relationship Id="rId4" Type="http://schemas.openxmlformats.org/officeDocument/2006/relationships/image" Target="../media/image2.png"/><Relationship Id="rId9" Type="http://schemas.openxmlformats.org/officeDocument/2006/relationships/hyperlink" Target="mailto:info@identity-uz.com" TargetMode="Externa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image" Target="../media/fmt-Slide-1-image-1.jpeg"/><Relationship Id="rId2" Type="http://schemas.openxmlformats.org/officeDocument/2006/relationships/image" Target="../media/fmt-image-1-2.png"/><Relationship Id="rId3" Type="http://schemas.openxmlformats.org/officeDocument/2006/relationships/image" Target="../media/fmt-image-1-3.png"/><Relationship Id="rId4" Type="http://schemas.openxmlformats.org/officeDocument/2006/relationships/image" Target="../media/fmt-image-1-4.png"/><Relationship Id="rId5" Type="http://schemas.openxmlformats.org/officeDocument/2006/relationships/image" Target="../media/fmt-image-1-5.png"/><Relationship Id="rId6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097280"/>
            <a:ext cx="5433365" cy="4572000"/>
          </a:xfrm>
          <a:prstGeom prst="roundRect">
            <a:avLst>
              <a:gd name="adj" fmla="val 2800"/>
            </a:avLst>
          </a:prstGeom>
          <a:solidFill>
            <a:srgbClr val="0A1122">
              <a:alpha val="68000"/>
            </a:srgbClr>
          </a:solidFill>
          <a:ln w="9525">
            <a:solidFill>
              <a:srgbClr val="FFFFFF">
                <a:alpha val="20000"/>
              </a:srgbClr>
            </a:solidFill>
            <a:prstDash val="solid"/>
          </a:ln>
        </p:spPr>
      </p:sp>
      <p:pic>
        <p:nvPicPr>
          <p:cNvPr id="3" name="Image 0" descr="/home/claude/assets/identity_logo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1508760"/>
            <a:ext cx="1401079" cy="4572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60120" y="2240280"/>
            <a:ext cx="461040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50" dirty="0">
                <a:solidFill>
                  <a:srgbClr val="4FD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ENDPOINT PROTECTION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960120" y="2514600"/>
            <a:ext cx="461040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rgbClr val="4FD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EDR</a:t>
            </a:r>
            <a:endParaRPr lang="en-US" sz="4400" dirty="0"/>
          </a:p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Detection and response </a:t>
            </a:r>
            <a:r>
              <a:rPr lang="en-US" sz="22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</a:t>
            </a: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ru-RU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threats</a:t>
            </a:r>
            <a:endParaRPr lang="en-US" sz="4400" dirty="0"/>
          </a:p>
        </p:txBody>
      </p:sp>
      <p:sp>
        <p:nvSpPr>
          <p:cNvPr id="6" name="Text 3"/>
          <p:cNvSpPr txBox="1"/>
          <p:nvPr/>
        </p:nvSpPr>
        <p:spPr>
          <a:xfrm>
            <a:off x="3062176" y="4018788"/>
            <a:ext cx="348654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D7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Improving </a:t>
            </a:r>
            <a:r>
              <a:rPr lang="en-US" sz="1400" dirty="0" err="1">
                <a:solidFill>
                  <a:srgbClr val="D7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visibility</a:t>
            </a:r>
            <a:r>
              <a:rPr lang="en-US" sz="1400" dirty="0">
                <a:solidFill>
                  <a:srgbClr val="D7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of </a:t>
            </a:r>
            <a:r>
              <a:rPr lang="en-US" sz="1400" dirty="0" err="1">
                <a:solidFill>
                  <a:srgbClr val="D7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threats</a:t>
            </a:r>
            <a:r>
              <a:rPr lang="en-US" sz="1400" dirty="0">
                <a:solidFill>
                  <a:srgbClr val="D7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960120" y="4434840"/>
            <a:ext cx="1463040" cy="365760"/>
          </a:xfrm>
          <a:prstGeom prst="roundRect">
            <a:avLst>
              <a:gd name="adj" fmla="val 50000"/>
            </a:avLst>
          </a:prstGeom>
          <a:solidFill>
            <a:srgbClr val="4FD1FF">
              <a:alpha val="14000"/>
            </a:srgbClr>
          </a:solidFill>
          <a:ln w="9525">
            <a:solidFill>
              <a:srgbClr val="4FD1FF">
                <a:alpha val="60000"/>
              </a:srgbClr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960120" y="44348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FD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Detection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560320" y="4434840"/>
            <a:ext cx="1463040" cy="365760"/>
          </a:xfrm>
          <a:prstGeom prst="roundRect">
            <a:avLst>
              <a:gd name="adj" fmla="val 50000"/>
            </a:avLst>
          </a:prstGeom>
          <a:solidFill>
            <a:srgbClr val="4FD1FF">
              <a:alpha val="14000"/>
            </a:srgbClr>
          </a:solidFill>
          <a:ln w="9525">
            <a:solidFill>
              <a:srgbClr val="4FD1FF">
                <a:alpha val="60000"/>
              </a:srgbClr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560320" y="44348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FD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Investigation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160520" y="4434840"/>
            <a:ext cx="1463040" cy="365760"/>
          </a:xfrm>
          <a:prstGeom prst="roundRect">
            <a:avLst>
              <a:gd name="adj" fmla="val 50000"/>
            </a:avLst>
          </a:prstGeom>
          <a:solidFill>
            <a:srgbClr val="4FD1FF">
              <a:alpha val="14000"/>
            </a:srgbClr>
          </a:solidFill>
          <a:ln w="9525">
            <a:solidFill>
              <a:srgbClr val="4FD1FF">
                <a:alpha val="60000"/>
              </a:srgbClr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160520" y="44348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FD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960120" y="4983480"/>
            <a:ext cx="4610405" cy="914"/>
          </a:xfrm>
          <a:prstGeom prst="line">
            <a:avLst/>
          </a:prstGeom>
          <a:noFill/>
          <a:ln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960120" y="5102352"/>
            <a:ext cx="461040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 LLC</a:t>
            </a:r>
            <a:r>
              <a:rPr lang="en-US" sz="1150" dirty="0">
                <a:solidFill>
                  <a:srgbClr val="9AA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+998 78 555-11-75   ·   </a:t>
            </a:r>
            <a:r>
              <a:rPr lang="en-US" sz="1150" u="sng" dirty="0">
                <a:solidFill>
                  <a:srgbClr val="4FD1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identity-uz.com</a:t>
            </a:r>
            <a:endParaRPr lang="en-US" sz="1150" dirty="0"/>
          </a:p>
        </p:txBody>
      </p:sp>
    </p:spTree>
  </p:cSld>
  <p:clrMapOvr>
    <a:masterClrMapping/>
  </p:clrMapOvr>
  <p:transition xmlns:p="http://schemas.openxmlformats.org/presentationml/2006/main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2" fill="hold">
                      <p:stCondLst>
                        <p:cond delay="0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30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0" descr="/home/claude/assets/identity_logo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21468" y="274320"/>
            <a:ext cx="784604" cy="256032"/>
          </a:xfrm>
          <a:prstGeom prst="rect">
            <a:avLst/>
          </a:prstGeom>
        </p:spPr>
      </p:pic>
    </p:spTree>
  </p:cSld>
  <p:clrMapOvr>
    <a:masterClrMapping/>
  </p:clrMapOvr>
  <p:transition xmlns:p="http://schemas.openxmlformats.org/presentationml/2006/main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50" dirty="0">
                <a:solidFill>
                  <a:srgbClr val="4FD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86384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you need </a:t>
            </a:r>
            <a:r>
              <a:rPr lang="en-US" sz="3000" b="1" dirty="0">
                <a:solidFill>
                  <a:srgbClr val="4FD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EDR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0936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7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r>
              <a:rPr lang="en-US" sz="900" dirty="0">
                <a:solidFill>
                  <a:srgbClr val="9AA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/  14    EDR</a:t>
            </a:r>
            <a:endParaRPr lang="en-US" sz="900" dirty="0"/>
          </a:p>
        </p:txBody>
      </p:sp>
      <p:pic>
        <p:nvPicPr>
          <p:cNvPr id="5" name="Image 0" descr="/home/claude/assets/identity_logo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46365" y="6309360"/>
            <a:ext cx="896690" cy="29260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691640"/>
            <a:ext cx="2602382" cy="2240280"/>
          </a:xfrm>
          <a:prstGeom prst="roundRect">
            <a:avLst>
              <a:gd name="adj" fmla="val 5714"/>
            </a:avLst>
          </a:prstGeom>
          <a:solidFill>
            <a:srgbClr val="0A1122">
              <a:alpha val="68000"/>
            </a:srgbClr>
          </a:solidFill>
          <a:ln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22960" y="1965960"/>
            <a:ext cx="914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4FD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2364638" y="1965960"/>
            <a:ext cx="512064" cy="512064"/>
          </a:xfrm>
          <a:prstGeom prst="ellipse">
            <a:avLst/>
          </a:prstGeom>
          <a:solidFill>
            <a:srgbClr val="4FD1FF">
              <a:alpha val="14000"/>
            </a:srgbClr>
          </a:solidFill>
          <a:ln w="9525">
            <a:solidFill>
              <a:srgbClr val="4FD1FF">
                <a:alpha val="40000"/>
              </a:srgbClr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77292" y="2078614"/>
            <a:ext cx="286756" cy="286756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822960" y="2651760"/>
            <a:ext cx="205374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Detection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822960" y="3063240"/>
            <a:ext cx="205374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D7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Identifying suspicious behaviour and hidden threats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3379622" y="1691640"/>
            <a:ext cx="2602382" cy="2240280"/>
          </a:xfrm>
          <a:prstGeom prst="roundRect">
            <a:avLst>
              <a:gd name="adj" fmla="val 5714"/>
            </a:avLst>
          </a:prstGeom>
          <a:solidFill>
            <a:srgbClr val="0A1122">
              <a:alpha val="68000"/>
            </a:srgbClr>
          </a:solidFill>
          <a:ln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3653942" y="1965960"/>
            <a:ext cx="914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4FD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Shape 10"/>
          <p:cNvSpPr/>
          <p:nvPr/>
        </p:nvSpPr>
        <p:spPr>
          <a:xfrm>
            <a:off x="5195621" y="1965960"/>
            <a:ext cx="512064" cy="512064"/>
          </a:xfrm>
          <a:prstGeom prst="ellipse">
            <a:avLst/>
          </a:prstGeom>
          <a:solidFill>
            <a:srgbClr val="4FD1FF">
              <a:alpha val="14000"/>
            </a:srgbClr>
          </a:solidFill>
          <a:ln w="9525">
            <a:solidFill>
              <a:srgbClr val="4FD1FF">
                <a:alpha val="40000"/>
              </a:srgbClr>
            </a:solidFill>
            <a:prstDash val="solid"/>
          </a:ln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08275" y="2078614"/>
            <a:ext cx="286756" cy="286756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3653942" y="2651760"/>
            <a:ext cx="205374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Investigation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3653942" y="3063240"/>
            <a:ext cx="205374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D7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Reconstructing the chain of events and finding the root cause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6210605" y="1691640"/>
            <a:ext cx="2602382" cy="2240280"/>
          </a:xfrm>
          <a:prstGeom prst="roundRect">
            <a:avLst>
              <a:gd name="adj" fmla="val 5714"/>
            </a:avLst>
          </a:prstGeom>
          <a:solidFill>
            <a:srgbClr val="0A1122">
              <a:alpha val="68000"/>
            </a:srgbClr>
          </a:solidFill>
          <a:ln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6484925" y="1965960"/>
            <a:ext cx="914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4FD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Shape 15"/>
          <p:cNvSpPr/>
          <p:nvPr/>
        </p:nvSpPr>
        <p:spPr>
          <a:xfrm>
            <a:off x="8026603" y="1965960"/>
            <a:ext cx="512064" cy="512064"/>
          </a:xfrm>
          <a:prstGeom prst="ellipse">
            <a:avLst/>
          </a:prstGeom>
          <a:solidFill>
            <a:srgbClr val="4FD1FF">
              <a:alpha val="14000"/>
            </a:srgbClr>
          </a:solidFill>
          <a:ln w="9525">
            <a:solidFill>
              <a:srgbClr val="4FD1FF">
                <a:alpha val="40000"/>
              </a:srgbClr>
            </a:solidFill>
            <a:prstDash val="solid"/>
          </a:ln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39257" y="2078614"/>
            <a:ext cx="286756" cy="286756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6484925" y="2651760"/>
            <a:ext cx="205374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6484925" y="3063240"/>
            <a:ext cx="205374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D7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Isolating devices and stopping malicious activity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9041587" y="1691640"/>
            <a:ext cx="2602382" cy="2240280"/>
          </a:xfrm>
          <a:prstGeom prst="roundRect">
            <a:avLst>
              <a:gd name="adj" fmla="val 5714"/>
            </a:avLst>
          </a:prstGeom>
          <a:solidFill>
            <a:srgbClr val="0A1122">
              <a:alpha val="68000"/>
            </a:srgbClr>
          </a:solidFill>
          <a:ln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5" name="Text 19"/>
          <p:cNvSpPr txBox="1"/>
          <p:nvPr/>
        </p:nvSpPr>
        <p:spPr>
          <a:xfrm>
            <a:off x="9315907" y="1965960"/>
            <a:ext cx="914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4FD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26" name="Shape 20"/>
          <p:cNvSpPr/>
          <p:nvPr/>
        </p:nvSpPr>
        <p:spPr>
          <a:xfrm>
            <a:off x="10857586" y="1965960"/>
            <a:ext cx="512064" cy="512064"/>
          </a:xfrm>
          <a:prstGeom prst="ellipse">
            <a:avLst/>
          </a:prstGeom>
          <a:solidFill>
            <a:srgbClr val="4FD1FF">
              <a:alpha val="14000"/>
            </a:srgbClr>
          </a:solidFill>
          <a:ln w="9525">
            <a:solidFill>
              <a:srgbClr val="4FD1FF">
                <a:alpha val="40000"/>
              </a:srgbClr>
            </a:solidFill>
            <a:prstDash val="solid"/>
          </a:ln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970240" y="2078614"/>
            <a:ext cx="286756" cy="286756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9315907" y="2651760"/>
            <a:ext cx="205374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reduction</a:t>
            </a:r>
            <a:endParaRPr lang="en-US" sz="1600" dirty="0"/>
          </a:p>
        </p:txBody>
      </p:sp>
      <p:sp>
        <p:nvSpPr>
          <p:cNvPr id="29" name="Text 22"/>
          <p:cNvSpPr txBox="1"/>
          <p:nvPr/>
        </p:nvSpPr>
        <p:spPr>
          <a:xfrm>
            <a:off x="9315907" y="3063240"/>
            <a:ext cx="205374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D7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Limiting damage and improving security efficiency</a:t>
            </a:r>
            <a:endParaRPr lang="en-US" sz="1200" dirty="0"/>
          </a:p>
        </p:txBody>
      </p:sp>
      <p:sp>
        <p:nvSpPr>
          <p:cNvPr id="30" name="Shape 23"/>
          <p:cNvSpPr/>
          <p:nvPr/>
        </p:nvSpPr>
        <p:spPr>
          <a:xfrm>
            <a:off x="548640" y="4160520"/>
            <a:ext cx="11095330" cy="1920240"/>
          </a:xfrm>
          <a:prstGeom prst="roundRect">
            <a:avLst>
              <a:gd name="adj" fmla="val 6667"/>
            </a:avLst>
          </a:prstGeom>
          <a:solidFill>
            <a:srgbClr val="0C3552">
              <a:alpha val="72000"/>
            </a:srgbClr>
          </a:solidFill>
          <a:ln w="9525">
            <a:solidFill>
              <a:srgbClr val="4FD1FF">
                <a:alpha val="65000"/>
              </a:srgbClr>
            </a:solidFill>
            <a:prstDash val="solid"/>
          </a:ln>
        </p:spPr>
      </p:sp>
      <p:sp>
        <p:nvSpPr>
          <p:cNvPr id="31" name="Text 24"/>
          <p:cNvSpPr txBox="1"/>
          <p:nvPr/>
        </p:nvSpPr>
        <p:spPr>
          <a:xfrm>
            <a:off x="822960" y="44348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4FD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SUMMARY</a:t>
            </a:r>
            <a:endParaRPr lang="en-US" sz="1100" dirty="0"/>
          </a:p>
        </p:txBody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2960" y="4953762"/>
            <a:ext cx="310896" cy="310896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1280160" y="4846320"/>
            <a:ext cx="4656125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 risk of downtime for critical workstations and servers</a:t>
            </a:r>
            <a:endParaRPr lang="en-US" sz="1250" dirty="0"/>
          </a:p>
        </p:txBody>
      </p:sp>
      <p:pic>
        <p:nvPicPr>
          <p:cNvPr id="34" name="Image 6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10605" y="4953762"/>
            <a:ext cx="310896" cy="310896"/>
          </a:xfrm>
          <a:prstGeom prst="rect">
            <a:avLst/>
          </a:prstGeom>
        </p:spPr>
      </p:pic>
      <p:sp>
        <p:nvSpPr>
          <p:cNvPr id="35" name="Text 26"/>
          <p:cNvSpPr txBox="1"/>
          <p:nvPr/>
        </p:nvSpPr>
        <p:spPr>
          <a:xfrm>
            <a:off x="6667805" y="4846320"/>
            <a:ext cx="4656125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data protected from unauthorised access and theft</a:t>
            </a:r>
            <a:endParaRPr lang="en-US" sz="1250" dirty="0"/>
          </a:p>
        </p:txBody>
      </p:sp>
      <p:pic>
        <p:nvPicPr>
          <p:cNvPr id="36" name="Image 7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22960" y="5479542"/>
            <a:ext cx="310896" cy="310896"/>
          </a:xfrm>
          <a:prstGeom prst="rect">
            <a:avLst/>
          </a:prstGeom>
        </p:spPr>
      </p:pic>
      <p:sp>
        <p:nvSpPr>
          <p:cNvPr id="37" name="Text 27"/>
          <p:cNvSpPr txBox="1"/>
          <p:nvPr/>
        </p:nvSpPr>
        <p:spPr>
          <a:xfrm>
            <a:off x="1280160" y="5372100"/>
            <a:ext cx="4656125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Better visibility of information security events</a:t>
            </a:r>
            <a:endParaRPr lang="en-US" sz="1250" dirty="0"/>
          </a:p>
        </p:txBody>
      </p:sp>
      <p:pic>
        <p:nvPicPr>
          <p:cNvPr id="38" name="Image 8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10605" y="5479542"/>
            <a:ext cx="310896" cy="310896"/>
          </a:xfrm>
          <a:prstGeom prst="rect">
            <a:avLst/>
          </a:prstGeom>
        </p:spPr>
      </p:pic>
      <p:sp>
        <p:nvSpPr>
          <p:cNvPr id="39" name="Text 28"/>
          <p:cNvSpPr txBox="1"/>
          <p:nvPr/>
        </p:nvSpPr>
        <p:spPr>
          <a:xfrm>
            <a:off x="6667805" y="5372100"/>
            <a:ext cx="4656125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Faster investigations thanks to centralised event data</a:t>
            </a:r>
            <a:endParaRPr lang="en-US" sz="1250" dirty="0"/>
          </a:p>
        </p:txBody>
      </p:sp>
    </p:spTree>
  </p:cSld>
  <p:clrMapOvr>
    <a:masterClrMapping/>
  </p:clrMapOvr>
  <p:transition xmlns:p="http://schemas.openxmlformats.org/presentationml/2006/main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2" fill="hold">
                      <p:stCondLst>
                        <p:cond delay="0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300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2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2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2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2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2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300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2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2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2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2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2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2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2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2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2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2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50" dirty="0">
                <a:solidFill>
                  <a:srgbClr val="4FD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 ARCHITECTURE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86384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EDR </a:t>
            </a:r>
            <a:r>
              <a:rPr lang="en-US" sz="3000" b="1" dirty="0">
                <a:solidFill>
                  <a:srgbClr val="4FD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0936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7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r>
              <a:rPr lang="en-US" sz="900" dirty="0">
                <a:solidFill>
                  <a:srgbClr val="9AA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/  14    EDR</a:t>
            </a:r>
            <a:endParaRPr lang="en-US" sz="900" dirty="0"/>
          </a:p>
        </p:txBody>
      </p:sp>
      <p:pic>
        <p:nvPicPr>
          <p:cNvPr id="5" name="Image 0" descr="/home/claude/assets/identity_logo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46365" y="6309360"/>
            <a:ext cx="896690" cy="29260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691640"/>
            <a:ext cx="3546043" cy="4389120"/>
          </a:xfrm>
          <a:prstGeom prst="roundRect">
            <a:avLst>
              <a:gd name="adj" fmla="val 3610"/>
            </a:avLst>
          </a:prstGeom>
          <a:solidFill>
            <a:srgbClr val="0C3552">
              <a:alpha val="72000"/>
            </a:srgbClr>
          </a:solidFill>
          <a:ln w="9525">
            <a:solidFill>
              <a:srgbClr val="4FD1FF">
                <a:alpha val="65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22960" y="1965960"/>
            <a:ext cx="457200" cy="457200"/>
          </a:xfrm>
          <a:prstGeom prst="ellipse">
            <a:avLst/>
          </a:prstGeom>
          <a:solidFill>
            <a:srgbClr val="4FD1FF">
              <a:alpha val="14000"/>
            </a:srgbClr>
          </a:solidFill>
          <a:ln w="9525">
            <a:solidFill>
              <a:srgbClr val="4FD1FF">
                <a:alpha val="40000"/>
              </a:srgbClr>
            </a:solidFill>
            <a:prstDash val="solid"/>
          </a:ln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3544" y="2066544"/>
            <a:ext cx="256032" cy="25603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444752" y="1965960"/>
            <a:ext cx="237561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Telemetry and local control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822960" y="2606040"/>
            <a:ext cx="2997403" cy="914"/>
          </a:xfrm>
          <a:prstGeom prst="line">
            <a:avLst/>
          </a:prstGeom>
          <a:noFill/>
          <a:ln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822960" y="27432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4FD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1207008" y="2743200"/>
            <a:ext cx="26133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EDR agent</a:t>
            </a:r>
            <a:endParaRPr lang="en-US" sz="1250" dirty="0"/>
          </a:p>
        </p:txBody>
      </p:sp>
      <p:sp>
        <p:nvSpPr>
          <p:cNvPr id="13" name="Text 9"/>
          <p:cNvSpPr txBox="1"/>
          <p:nvPr/>
        </p:nvSpPr>
        <p:spPr>
          <a:xfrm>
            <a:off x="1207008" y="3017520"/>
            <a:ext cx="2613355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7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Collects data on processes, files, network and user actions</a:t>
            </a:r>
            <a:endParaRPr lang="en-US" sz="1000" dirty="0"/>
          </a:p>
        </p:txBody>
      </p:sp>
      <p:sp>
        <p:nvSpPr>
          <p:cNvPr id="14" name="Text 10"/>
          <p:cNvSpPr txBox="1"/>
          <p:nvPr/>
        </p:nvSpPr>
        <p:spPr>
          <a:xfrm>
            <a:off x="822960" y="350901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4FD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1207008" y="3509010"/>
            <a:ext cx="26133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Telemetry collection</a:t>
            </a:r>
            <a:endParaRPr lang="en-US" sz="1250" dirty="0"/>
          </a:p>
        </p:txBody>
      </p:sp>
      <p:sp>
        <p:nvSpPr>
          <p:cNvPr id="16" name="Text 12"/>
          <p:cNvSpPr txBox="1"/>
          <p:nvPr/>
        </p:nvSpPr>
        <p:spPr>
          <a:xfrm>
            <a:off x="1207008" y="3783330"/>
            <a:ext cx="2613355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7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Records security events and sends them for analysis</a:t>
            </a:r>
            <a:endParaRPr lang="en-US" sz="1000" dirty="0"/>
          </a:p>
        </p:txBody>
      </p:sp>
      <p:sp>
        <p:nvSpPr>
          <p:cNvPr id="17" name="Text 13"/>
          <p:cNvSpPr txBox="1"/>
          <p:nvPr/>
        </p:nvSpPr>
        <p:spPr>
          <a:xfrm>
            <a:off x="822960" y="42748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4FD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4"/>
          <p:cNvSpPr txBox="1"/>
          <p:nvPr/>
        </p:nvSpPr>
        <p:spPr>
          <a:xfrm>
            <a:off x="1207008" y="4274820"/>
            <a:ext cx="26133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Threat detection</a:t>
            </a:r>
            <a:endParaRPr lang="en-US" sz="1250" dirty="0"/>
          </a:p>
        </p:txBody>
      </p:sp>
      <p:sp>
        <p:nvSpPr>
          <p:cNvPr id="19" name="Text 15"/>
          <p:cNvSpPr txBox="1"/>
          <p:nvPr/>
        </p:nvSpPr>
        <p:spPr>
          <a:xfrm>
            <a:off x="1207008" y="4549140"/>
            <a:ext cx="2613355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7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Suspicious behaviour, indicators of compromise, attack techniques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4323283" y="1691640"/>
            <a:ext cx="3546043" cy="4389120"/>
          </a:xfrm>
          <a:prstGeom prst="roundRect">
            <a:avLst>
              <a:gd name="adj" fmla="val 3610"/>
            </a:avLst>
          </a:prstGeom>
          <a:solidFill>
            <a:srgbClr val="0A1122">
              <a:alpha val="68000"/>
            </a:srgbClr>
          </a:solidFill>
          <a:ln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4597603" y="1965960"/>
            <a:ext cx="457200" cy="457200"/>
          </a:xfrm>
          <a:prstGeom prst="ellipse">
            <a:avLst/>
          </a:prstGeom>
          <a:solidFill>
            <a:srgbClr val="4FD1FF">
              <a:alpha val="14000"/>
            </a:srgbClr>
          </a:solidFill>
          <a:ln w="9525">
            <a:solidFill>
              <a:srgbClr val="4FD1FF">
                <a:alpha val="40000"/>
              </a:srgbClr>
            </a:solidFill>
            <a:prstDash val="solid"/>
          </a:ln>
        </p:spPr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98187" y="2066544"/>
            <a:ext cx="256032" cy="256032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5219395" y="1965960"/>
            <a:ext cx="237561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Incident analysis and attack containment</a:t>
            </a:r>
            <a:endParaRPr lang="en-US" sz="1300" dirty="0"/>
          </a:p>
        </p:txBody>
      </p:sp>
      <p:sp>
        <p:nvSpPr>
          <p:cNvPr id="27" name="Shape 22"/>
          <p:cNvSpPr/>
          <p:nvPr/>
        </p:nvSpPr>
        <p:spPr>
          <a:xfrm>
            <a:off x="4597603" y="2606040"/>
            <a:ext cx="2997403" cy="914"/>
          </a:xfrm>
          <a:prstGeom prst="line">
            <a:avLst/>
          </a:prstGeom>
          <a:noFill/>
          <a:ln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28" name="Text 23"/>
          <p:cNvSpPr txBox="1"/>
          <p:nvPr/>
        </p:nvSpPr>
        <p:spPr>
          <a:xfrm>
            <a:off x="4597603" y="350901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4FD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29" name="Text 24"/>
          <p:cNvSpPr txBox="1"/>
          <p:nvPr/>
        </p:nvSpPr>
        <p:spPr>
          <a:xfrm>
            <a:off x="4981651" y="3509010"/>
            <a:ext cx="26133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Incident investigation</a:t>
            </a:r>
            <a:endParaRPr lang="en-US" sz="1250" dirty="0"/>
          </a:p>
        </p:txBody>
      </p:sp>
      <p:sp>
        <p:nvSpPr>
          <p:cNvPr id="30" name="Text 25"/>
          <p:cNvSpPr txBox="1"/>
          <p:nvPr/>
        </p:nvSpPr>
        <p:spPr>
          <a:xfrm>
            <a:off x="4981651" y="3783330"/>
            <a:ext cx="2613355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7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Timeline of events, processes, files and attacker actions</a:t>
            </a:r>
            <a:endParaRPr lang="en-US" sz="1000" dirty="0"/>
          </a:p>
        </p:txBody>
      </p:sp>
      <p:sp>
        <p:nvSpPr>
          <p:cNvPr id="31" name="Text 26"/>
          <p:cNvSpPr txBox="1"/>
          <p:nvPr/>
        </p:nvSpPr>
        <p:spPr>
          <a:xfrm>
            <a:off x="4597603" y="42748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4FD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300" dirty="0"/>
          </a:p>
        </p:txBody>
      </p:sp>
      <p:sp>
        <p:nvSpPr>
          <p:cNvPr id="32" name="Text 27"/>
          <p:cNvSpPr txBox="1"/>
          <p:nvPr/>
        </p:nvSpPr>
        <p:spPr>
          <a:xfrm>
            <a:off x="4981651" y="4274820"/>
            <a:ext cx="26133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Threat response</a:t>
            </a:r>
            <a:endParaRPr lang="en-US" sz="1250" dirty="0"/>
          </a:p>
        </p:txBody>
      </p:sp>
      <p:sp>
        <p:nvSpPr>
          <p:cNvPr id="33" name="Text 28"/>
          <p:cNvSpPr txBox="1"/>
          <p:nvPr/>
        </p:nvSpPr>
        <p:spPr>
          <a:xfrm>
            <a:off x="4981651" y="4549140"/>
            <a:ext cx="2613355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7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Device isolation, process termination, file quarantine</a:t>
            </a:r>
            <a:endParaRPr lang="en-US" sz="1000" dirty="0"/>
          </a:p>
        </p:txBody>
      </p:sp>
      <p:sp>
        <p:nvSpPr>
          <p:cNvPr id="34" name="Text 29"/>
          <p:cNvSpPr txBox="1"/>
          <p:nvPr/>
        </p:nvSpPr>
        <p:spPr>
          <a:xfrm>
            <a:off x="4597603" y="504063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4FD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300" dirty="0"/>
          </a:p>
        </p:txBody>
      </p:sp>
      <p:sp>
        <p:nvSpPr>
          <p:cNvPr id="35" name="Text 30"/>
          <p:cNvSpPr txBox="1"/>
          <p:nvPr/>
        </p:nvSpPr>
        <p:spPr>
          <a:xfrm>
            <a:off x="4981651" y="5040630"/>
            <a:ext cx="26133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Monitoring and reporting</a:t>
            </a:r>
            <a:endParaRPr lang="en-US" sz="1250" dirty="0"/>
          </a:p>
        </p:txBody>
      </p:sp>
      <p:sp>
        <p:nvSpPr>
          <p:cNvPr id="36" name="Text 31"/>
          <p:cNvSpPr txBox="1"/>
          <p:nvPr/>
        </p:nvSpPr>
        <p:spPr>
          <a:xfrm>
            <a:off x="4981651" y="5314950"/>
            <a:ext cx="2613355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7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Incidents, alerts, statistics and results</a:t>
            </a:r>
            <a:endParaRPr lang="en-US" sz="1000" dirty="0"/>
          </a:p>
        </p:txBody>
      </p:sp>
      <p:sp>
        <p:nvSpPr>
          <p:cNvPr id="20" name="Text 16"/>
          <p:cNvSpPr txBox="1"/>
          <p:nvPr/>
        </p:nvSpPr>
        <p:spPr>
          <a:xfrm>
            <a:off x="4597603" y="27432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4FD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7"/>
          <p:cNvSpPr txBox="1"/>
          <p:nvPr/>
        </p:nvSpPr>
        <p:spPr>
          <a:xfrm>
            <a:off x="4981651" y="2743200"/>
            <a:ext cx="26133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 and correlation</a:t>
            </a:r>
            <a:endParaRPr lang="en-US" sz="1250" dirty="0"/>
          </a:p>
        </p:txBody>
      </p:sp>
      <p:sp>
        <p:nvSpPr>
          <p:cNvPr id="22" name="Text 18"/>
          <p:cNvSpPr txBox="1"/>
          <p:nvPr/>
        </p:nvSpPr>
        <p:spPr>
          <a:xfrm>
            <a:off x="4981651" y="3017520"/>
            <a:ext cx="2613355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7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Links separate events into a single picture of the attack</a:t>
            </a:r>
            <a:endParaRPr lang="en-US" sz="1000" dirty="0"/>
          </a:p>
        </p:txBody>
      </p:sp>
      <p:sp>
        <p:nvSpPr>
          <p:cNvPr id="37" name="Shape 32"/>
          <p:cNvSpPr/>
          <p:nvPr/>
        </p:nvSpPr>
        <p:spPr>
          <a:xfrm>
            <a:off x="8097926" y="1691640"/>
            <a:ext cx="3546043" cy="4389120"/>
          </a:xfrm>
          <a:prstGeom prst="roundRect">
            <a:avLst>
              <a:gd name="adj" fmla="val 3610"/>
            </a:avLst>
          </a:prstGeom>
          <a:solidFill>
            <a:srgbClr val="0A1122">
              <a:alpha val="68000"/>
            </a:srgbClr>
          </a:solidFill>
          <a:ln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38" name="Shape 33"/>
          <p:cNvSpPr/>
          <p:nvPr/>
        </p:nvSpPr>
        <p:spPr>
          <a:xfrm>
            <a:off x="8372246" y="1965960"/>
            <a:ext cx="457200" cy="457200"/>
          </a:xfrm>
          <a:prstGeom prst="ellipse">
            <a:avLst/>
          </a:prstGeom>
          <a:solidFill>
            <a:srgbClr val="4FD1FF">
              <a:alpha val="14000"/>
            </a:srgbClr>
          </a:solidFill>
          <a:ln w="9525">
            <a:solidFill>
              <a:srgbClr val="4FD1FF">
                <a:alpha val="40000"/>
              </a:srgbClr>
            </a:solidFill>
            <a:prstDash val="solid"/>
          </a:ln>
        </p:spPr>
      </p:sp>
      <p:pic>
        <p:nvPicPr>
          <p:cNvPr id="39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72830" y="2066544"/>
            <a:ext cx="256032" cy="256032"/>
          </a:xfrm>
          <a:prstGeom prst="rect">
            <a:avLst/>
          </a:prstGeom>
        </p:spPr>
      </p:pic>
      <p:sp>
        <p:nvSpPr>
          <p:cNvPr id="40" name="Text 34"/>
          <p:cNvSpPr txBox="1"/>
          <p:nvPr/>
        </p:nvSpPr>
        <p:spPr>
          <a:xfrm>
            <a:off x="8994038" y="1965960"/>
            <a:ext cx="237561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Administration and integration</a:t>
            </a:r>
            <a:endParaRPr lang="en-US" sz="1300" dirty="0"/>
          </a:p>
        </p:txBody>
      </p:sp>
      <p:sp>
        <p:nvSpPr>
          <p:cNvPr id="41" name="Shape 35"/>
          <p:cNvSpPr/>
          <p:nvPr/>
        </p:nvSpPr>
        <p:spPr>
          <a:xfrm>
            <a:off x="8372246" y="2606040"/>
            <a:ext cx="2997403" cy="914"/>
          </a:xfrm>
          <a:prstGeom prst="line">
            <a:avLst/>
          </a:prstGeom>
          <a:noFill/>
          <a:ln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42" name="Text 36"/>
          <p:cNvSpPr txBox="1"/>
          <p:nvPr/>
        </p:nvSpPr>
        <p:spPr>
          <a:xfrm>
            <a:off x="8372246" y="27432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4FD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300" dirty="0"/>
          </a:p>
        </p:txBody>
      </p:sp>
      <p:sp>
        <p:nvSpPr>
          <p:cNvPr id="43" name="Text 37"/>
          <p:cNvSpPr txBox="1"/>
          <p:nvPr/>
        </p:nvSpPr>
        <p:spPr>
          <a:xfrm>
            <a:off x="8756294" y="2743200"/>
            <a:ext cx="26133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Integrations</a:t>
            </a:r>
            <a:endParaRPr lang="en-US" sz="1250" dirty="0"/>
          </a:p>
        </p:txBody>
      </p:sp>
      <p:sp>
        <p:nvSpPr>
          <p:cNvPr id="44" name="Text 38"/>
          <p:cNvSpPr txBox="1"/>
          <p:nvPr/>
        </p:nvSpPr>
        <p:spPr>
          <a:xfrm>
            <a:off x="8756294" y="3017520"/>
            <a:ext cx="2613355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7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exchange with SIEM, SOAR, ITSM, user directories</a:t>
            </a:r>
            <a:endParaRPr lang="en-US" sz="1000" dirty="0"/>
          </a:p>
        </p:txBody>
      </p:sp>
      <p:sp>
        <p:nvSpPr>
          <p:cNvPr id="45" name="Text 39"/>
          <p:cNvSpPr txBox="1"/>
          <p:nvPr/>
        </p:nvSpPr>
        <p:spPr>
          <a:xfrm>
            <a:off x="8372246" y="350901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4FD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300" dirty="0"/>
          </a:p>
        </p:txBody>
      </p:sp>
      <p:sp>
        <p:nvSpPr>
          <p:cNvPr id="46" name="Text 40"/>
          <p:cNvSpPr txBox="1"/>
          <p:nvPr/>
        </p:nvSpPr>
        <p:spPr>
          <a:xfrm>
            <a:off x="8756294" y="3509010"/>
            <a:ext cx="26133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 control</a:t>
            </a:r>
            <a:endParaRPr lang="en-US" sz="1250" dirty="0"/>
          </a:p>
        </p:txBody>
      </p:sp>
      <p:sp>
        <p:nvSpPr>
          <p:cNvPr id="47" name="Text 41"/>
          <p:cNvSpPr txBox="1"/>
          <p:nvPr/>
        </p:nvSpPr>
        <p:spPr>
          <a:xfrm>
            <a:off x="8756294" y="3783330"/>
            <a:ext cx="2613355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7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Roles, user rights, security policies, action audit</a:t>
            </a:r>
            <a:endParaRPr lang="en-US" sz="1000" dirty="0"/>
          </a:p>
        </p:txBody>
      </p:sp>
      <p:sp>
        <p:nvSpPr>
          <p:cNvPr id="48" name="Text 42"/>
          <p:cNvSpPr txBox="1"/>
          <p:nvPr/>
        </p:nvSpPr>
        <p:spPr>
          <a:xfrm>
            <a:off x="8372246" y="42748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4FD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300" dirty="0"/>
          </a:p>
        </p:txBody>
      </p:sp>
      <p:sp>
        <p:nvSpPr>
          <p:cNvPr id="49" name="Text 43"/>
          <p:cNvSpPr txBox="1"/>
          <p:nvPr/>
        </p:nvSpPr>
        <p:spPr>
          <a:xfrm>
            <a:off x="8756294" y="4274820"/>
            <a:ext cx="26133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Centralised management</a:t>
            </a:r>
            <a:endParaRPr lang="en-US" sz="1250" dirty="0"/>
          </a:p>
        </p:txBody>
      </p:sp>
      <p:sp>
        <p:nvSpPr>
          <p:cNvPr id="50" name="Text 44"/>
          <p:cNvSpPr txBox="1"/>
          <p:nvPr/>
        </p:nvSpPr>
        <p:spPr>
          <a:xfrm>
            <a:off x="8756294" y="4549140"/>
            <a:ext cx="2613355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7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 setup, agent management, device status</a:t>
            </a:r>
            <a:endParaRPr lang="en-US" sz="1000" dirty="0"/>
          </a:p>
        </p:txBody>
      </p:sp>
    </p:spTree>
  </p:cSld>
  <p:clrMapOvr>
    <a:masterClrMapping/>
  </p:clrMapOvr>
  <p:transition xmlns:p="http://schemas.openxmlformats.org/presentationml/2006/main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2" fill="hold">
                      <p:stCondLst>
                        <p:cond delay="0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300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2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2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2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2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2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2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2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2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300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2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2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2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2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2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2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2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2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2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2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2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2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2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52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52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52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52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52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50" dirty="0">
                <a:solidFill>
                  <a:srgbClr val="4FD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ARCHITECTURE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86384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EDR in the </a:t>
            </a:r>
            <a:r>
              <a:rPr lang="en-US" sz="3000" b="1" dirty="0">
                <a:solidFill>
                  <a:srgbClr val="4FD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architecture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0936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7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r>
              <a:rPr lang="en-US" sz="900" dirty="0">
                <a:solidFill>
                  <a:srgbClr val="9AA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/  14    EDR</a:t>
            </a:r>
            <a:endParaRPr lang="en-US" sz="900" dirty="0"/>
          </a:p>
        </p:txBody>
      </p:sp>
      <p:pic>
        <p:nvPicPr>
          <p:cNvPr id="5" name="Image 0" descr="/home/claude/assets/identity_logo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46365" y="6309360"/>
            <a:ext cx="896690" cy="29260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691640"/>
            <a:ext cx="7314139" cy="4389120"/>
          </a:xfrm>
          <a:prstGeom prst="roundRect">
            <a:avLst>
              <a:gd name="adj" fmla="val 2917"/>
            </a:avLst>
          </a:prstGeom>
          <a:solidFill>
            <a:srgbClr val="FFFFFF"/>
          </a:solidFill>
          <a:ln w="9525">
            <a:solidFill>
              <a:srgbClr val="FFFFFF">
                <a:alpha val="40000"/>
              </a:srgbClr>
            </a:solidFill>
            <a:prstDash val="solid"/>
          </a:ln>
        </p:spPr>
      </p:sp>
      <p:pic>
        <p:nvPicPr>
          <p:cNvPr id="7" name="Image 1" descr="/home/claude/out/edr/arch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1783080"/>
            <a:ext cx="7131259" cy="420624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8091379" y="1691640"/>
            <a:ext cx="3552590" cy="1310640"/>
          </a:xfrm>
          <a:prstGeom prst="roundRect">
            <a:avLst>
              <a:gd name="adj" fmla="val 9767"/>
            </a:avLst>
          </a:prstGeom>
          <a:solidFill>
            <a:srgbClr val="0A1122">
              <a:alpha val="68000"/>
            </a:srgbClr>
          </a:solidFill>
          <a:ln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8319979" y="2136648"/>
            <a:ext cx="420624" cy="420624"/>
          </a:xfrm>
          <a:prstGeom prst="ellipse">
            <a:avLst/>
          </a:prstGeom>
          <a:solidFill>
            <a:srgbClr val="4FD1FF">
              <a:alpha val="14000"/>
            </a:srgbClr>
          </a:solidFill>
          <a:ln w="9525">
            <a:solidFill>
              <a:srgbClr val="4FD1FF">
                <a:alpha val="40000"/>
              </a:srgbClr>
            </a:solidFill>
            <a:prstDash val="solid"/>
          </a:ln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12517" y="2229185"/>
            <a:ext cx="235549" cy="235549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8941771" y="2017776"/>
            <a:ext cx="250103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Perimeter and network</a:t>
            </a:r>
            <a:endParaRPr lang="en-US" sz="1250" dirty="0"/>
          </a:p>
        </p:txBody>
      </p:sp>
      <p:sp>
        <p:nvSpPr>
          <p:cNvPr id="12" name="Text 7"/>
          <p:cNvSpPr txBox="1"/>
          <p:nvPr/>
        </p:nvSpPr>
        <p:spPr>
          <a:xfrm>
            <a:off x="8941771" y="2346960"/>
            <a:ext cx="2501030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D7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NGFW, WAF, IPS/IDS protect the network — but do not see what happens on the device</a:t>
            </a:r>
            <a:endParaRPr lang="en-US" sz="1050" dirty="0"/>
          </a:p>
        </p:txBody>
      </p:sp>
      <p:sp>
        <p:nvSpPr>
          <p:cNvPr id="13" name="Shape 8"/>
          <p:cNvSpPr/>
          <p:nvPr/>
        </p:nvSpPr>
        <p:spPr>
          <a:xfrm>
            <a:off x="8091379" y="3230880"/>
            <a:ext cx="3552590" cy="1310640"/>
          </a:xfrm>
          <a:prstGeom prst="roundRect">
            <a:avLst>
              <a:gd name="adj" fmla="val 9767"/>
            </a:avLst>
          </a:prstGeom>
          <a:solidFill>
            <a:srgbClr val="0C3552">
              <a:alpha val="72000"/>
            </a:srgbClr>
          </a:solidFill>
          <a:ln w="9525">
            <a:solidFill>
              <a:srgbClr val="4FD1FF">
                <a:alpha val="65000"/>
              </a:srgbClr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8319979" y="3675888"/>
            <a:ext cx="420624" cy="420624"/>
          </a:xfrm>
          <a:prstGeom prst="ellipse">
            <a:avLst/>
          </a:prstGeom>
          <a:solidFill>
            <a:srgbClr val="FF6B76">
              <a:alpha val="14000"/>
            </a:srgbClr>
          </a:solidFill>
          <a:ln w="9525">
            <a:solidFill>
              <a:srgbClr val="FF6B76">
                <a:alpha val="40000"/>
              </a:srgbClr>
            </a:solidFill>
            <a:prstDash val="solid"/>
          </a:ln>
        </p:spPr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12517" y="3768425"/>
            <a:ext cx="235549" cy="235549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8941771" y="3557016"/>
            <a:ext cx="250103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EDR — endpoints</a:t>
            </a:r>
            <a:endParaRPr lang="en-US" sz="1250" dirty="0"/>
          </a:p>
        </p:txBody>
      </p:sp>
      <p:sp>
        <p:nvSpPr>
          <p:cNvPr id="17" name="Text 11"/>
          <p:cNvSpPr txBox="1"/>
          <p:nvPr/>
        </p:nvSpPr>
        <p:spPr>
          <a:xfrm>
            <a:off x="8941771" y="3886200"/>
            <a:ext cx="2501030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D7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Agent, platform and console: visibility and response on every device</a:t>
            </a:r>
            <a:endParaRPr lang="en-US" sz="1050" dirty="0"/>
          </a:p>
        </p:txBody>
      </p:sp>
      <p:sp>
        <p:nvSpPr>
          <p:cNvPr id="18" name="Shape 12"/>
          <p:cNvSpPr/>
          <p:nvPr/>
        </p:nvSpPr>
        <p:spPr>
          <a:xfrm>
            <a:off x="8091379" y="4770120"/>
            <a:ext cx="3552590" cy="1310640"/>
          </a:xfrm>
          <a:prstGeom prst="roundRect">
            <a:avLst>
              <a:gd name="adj" fmla="val 9767"/>
            </a:avLst>
          </a:prstGeom>
          <a:solidFill>
            <a:srgbClr val="0A1122">
              <a:alpha val="68000"/>
            </a:srgbClr>
          </a:solidFill>
          <a:ln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8319979" y="5215128"/>
            <a:ext cx="420624" cy="420624"/>
          </a:xfrm>
          <a:prstGeom prst="ellipse">
            <a:avLst/>
          </a:prstGeom>
          <a:solidFill>
            <a:srgbClr val="4FD1FF">
              <a:alpha val="14000"/>
            </a:srgbClr>
          </a:solidFill>
          <a:ln w="9525">
            <a:solidFill>
              <a:srgbClr val="4FD1FF">
                <a:alpha val="40000"/>
              </a:srgbClr>
            </a:solidFill>
            <a:prstDash val="solid"/>
          </a:ln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12517" y="5307665"/>
            <a:ext cx="235549" cy="235549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8941771" y="5096256"/>
            <a:ext cx="250103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 and integrations</a:t>
            </a:r>
            <a:endParaRPr lang="en-US" sz="1250" dirty="0"/>
          </a:p>
        </p:txBody>
      </p:sp>
      <p:sp>
        <p:nvSpPr>
          <p:cNvPr id="22" name="Text 15"/>
          <p:cNvSpPr txBox="1"/>
          <p:nvPr/>
        </p:nvSpPr>
        <p:spPr>
          <a:xfrm>
            <a:off x="8941771" y="5425440"/>
            <a:ext cx="2501030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D7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SIEM, SOAR, ITSM, Active Directory, DLP — a single perimeter</a:t>
            </a:r>
            <a:endParaRPr lang="en-US" sz="1050" dirty="0"/>
          </a:p>
        </p:txBody>
      </p:sp>
    </p:spTree>
  </p:cSld>
  <p:clrMapOvr>
    <a:masterClrMapping/>
  </p:clrMapOvr>
  <p:transition xmlns:p="http://schemas.openxmlformats.org/presentationml/2006/main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2" fill="hold">
                      <p:stCondLst>
                        <p:cond delay="0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300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50" dirty="0">
                <a:solidFill>
                  <a:srgbClr val="4FD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86384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Attack and </a:t>
            </a:r>
            <a:r>
              <a:rPr lang="en-US" sz="3000" b="1" dirty="0">
                <a:solidFill>
                  <a:srgbClr val="4FD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defence scenario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0936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7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r>
              <a:rPr lang="en-US" sz="900" dirty="0">
                <a:solidFill>
                  <a:srgbClr val="9AA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/  14    EDR</a:t>
            </a:r>
            <a:endParaRPr lang="en-US" sz="900" dirty="0"/>
          </a:p>
        </p:txBody>
      </p:sp>
      <p:pic>
        <p:nvPicPr>
          <p:cNvPr id="5" name="Image 0" descr="/home/claude/assets/identity_logo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46365" y="6309360"/>
            <a:ext cx="896690" cy="29260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691640"/>
            <a:ext cx="7236324" cy="4389120"/>
          </a:xfrm>
          <a:prstGeom prst="roundRect">
            <a:avLst>
              <a:gd name="adj" fmla="val 2917"/>
            </a:avLst>
          </a:prstGeom>
          <a:solidFill>
            <a:srgbClr val="FFFFFF"/>
          </a:solidFill>
          <a:ln w="9525">
            <a:solidFill>
              <a:srgbClr val="FFFFFF">
                <a:alpha val="40000"/>
              </a:srgbClr>
            </a:solidFill>
            <a:prstDash val="solid"/>
          </a:ln>
        </p:spPr>
      </p:sp>
      <p:pic>
        <p:nvPicPr>
          <p:cNvPr id="7" name="Image 1" descr="/home/claude/out/edr/sce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1783080"/>
            <a:ext cx="7053444" cy="420624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8013564" y="1691640"/>
            <a:ext cx="3630406" cy="4389120"/>
          </a:xfrm>
          <a:prstGeom prst="roundRect">
            <a:avLst>
              <a:gd name="adj" fmla="val 3526"/>
            </a:avLst>
          </a:prstGeom>
          <a:solidFill>
            <a:srgbClr val="0C3552">
              <a:alpha val="72000"/>
            </a:srgbClr>
          </a:solidFill>
          <a:ln w="9525">
            <a:solidFill>
              <a:srgbClr val="4FD1FF">
                <a:alpha val="65000"/>
              </a:srgbClr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8287884" y="1965960"/>
            <a:ext cx="308176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7CF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</a:t>
            </a:r>
            <a:endParaRPr lang="en-US" sz="11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87884" y="2459736"/>
            <a:ext cx="310896" cy="310896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8745084" y="2423160"/>
            <a:ext cx="262456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 time to detect and contain a threat</a:t>
            </a:r>
            <a:endParaRPr lang="en-US" sz="11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87884" y="3328416"/>
            <a:ext cx="310896" cy="310896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8745084" y="3291840"/>
            <a:ext cx="262456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attack is kept from spreading across the infrastructure</a:t>
            </a:r>
            <a:endParaRPr lang="en-US" sz="115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87884" y="4197096"/>
            <a:ext cx="310896" cy="310896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8745084" y="4160520"/>
            <a:ext cx="262456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data stays safe</a:t>
            </a:r>
            <a:endParaRPr lang="en-US" sz="1150" dirty="0"/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87884" y="5065776"/>
            <a:ext cx="310896" cy="310896"/>
          </a:xfrm>
          <a:prstGeom prst="rect">
            <a:avLst/>
          </a:prstGeom>
        </p:spPr>
      </p:pic>
      <p:sp>
        <p:nvSpPr>
          <p:cNvPr id="17" name="Text 9"/>
          <p:cNvSpPr txBox="1"/>
          <p:nvPr/>
        </p:nvSpPr>
        <p:spPr>
          <a:xfrm>
            <a:off x="8745084" y="5029200"/>
            <a:ext cx="262456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full picture of the incident and an evidence base</a:t>
            </a:r>
            <a:endParaRPr lang="en-US" sz="1150" dirty="0"/>
          </a:p>
        </p:txBody>
      </p:sp>
    </p:spTree>
  </p:cSld>
  <p:clrMapOvr>
    <a:masterClrMapping/>
  </p:clrMapOvr>
  <p:transition xmlns:p="http://schemas.openxmlformats.org/presentationml/2006/main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2" fill="hold">
                      <p:stCondLst>
                        <p:cond delay="0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300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50" dirty="0">
                <a:solidFill>
                  <a:srgbClr val="4FD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CAPABILITIES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86384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Functional </a:t>
            </a:r>
            <a:r>
              <a:rPr lang="en-US" sz="3000" b="1" dirty="0">
                <a:solidFill>
                  <a:srgbClr val="4FD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capabilities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0936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7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r>
              <a:rPr lang="en-US" sz="900" dirty="0">
                <a:solidFill>
                  <a:srgbClr val="9AA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/  14    EDR</a:t>
            </a:r>
            <a:endParaRPr lang="en-US" sz="900" dirty="0"/>
          </a:p>
        </p:txBody>
      </p:sp>
      <p:pic>
        <p:nvPicPr>
          <p:cNvPr id="5" name="Image 0" descr="/home/claude/assets/identity_logo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46365" y="6309360"/>
            <a:ext cx="896690" cy="29260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691640"/>
            <a:ext cx="2602382" cy="2080260"/>
          </a:xfrm>
          <a:prstGeom prst="roundRect">
            <a:avLst>
              <a:gd name="adj" fmla="val 6154"/>
            </a:avLst>
          </a:prstGeom>
          <a:solidFill>
            <a:srgbClr val="0A1122">
              <a:alpha val="68000"/>
            </a:srgbClr>
          </a:solidFill>
          <a:ln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22960" y="1965960"/>
            <a:ext cx="512064" cy="512064"/>
          </a:xfrm>
          <a:prstGeom prst="ellipse">
            <a:avLst/>
          </a:prstGeom>
          <a:solidFill>
            <a:srgbClr val="4FD1FF">
              <a:alpha val="14000"/>
            </a:srgbClr>
          </a:solidFill>
          <a:ln w="9525">
            <a:solidFill>
              <a:srgbClr val="4FD1FF">
                <a:alpha val="40000"/>
              </a:srgbClr>
            </a:solidFill>
            <a:prstDash val="solid"/>
          </a:ln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5614" y="2078614"/>
            <a:ext cx="286756" cy="28675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822960" y="2651760"/>
            <a:ext cx="205374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monitoring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822960" y="3227832"/>
            <a:ext cx="2053742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D7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Uninterrupted control of endpoints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3379622" y="1691640"/>
            <a:ext cx="2602382" cy="2080260"/>
          </a:xfrm>
          <a:prstGeom prst="roundRect">
            <a:avLst>
              <a:gd name="adj" fmla="val 6154"/>
            </a:avLst>
          </a:prstGeom>
          <a:solidFill>
            <a:srgbClr val="0A1122">
              <a:alpha val="68000"/>
            </a:srgbClr>
          </a:solidFill>
          <a:ln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3653942" y="1965960"/>
            <a:ext cx="512064" cy="512064"/>
          </a:xfrm>
          <a:prstGeom prst="ellipse">
            <a:avLst/>
          </a:prstGeom>
          <a:solidFill>
            <a:srgbClr val="4FD1FF">
              <a:alpha val="14000"/>
            </a:srgbClr>
          </a:solidFill>
          <a:ln w="9525">
            <a:solidFill>
              <a:srgbClr val="4FD1FF">
                <a:alpha val="40000"/>
              </a:srgbClr>
            </a:solidFill>
            <a:prstDash val="solid"/>
          </a:ln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66596" y="2078614"/>
            <a:ext cx="286756" cy="286756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3653942" y="2651760"/>
            <a:ext cx="205374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Threat detection</a:t>
            </a:r>
            <a:endParaRPr lang="en-US" sz="1400" dirty="0"/>
          </a:p>
        </p:txBody>
      </p:sp>
      <p:sp>
        <p:nvSpPr>
          <p:cNvPr id="15" name="Text 10"/>
          <p:cNvSpPr txBox="1"/>
          <p:nvPr/>
        </p:nvSpPr>
        <p:spPr>
          <a:xfrm>
            <a:off x="3653942" y="3227832"/>
            <a:ext cx="2053742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D7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Including fileless attacks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6210605" y="1691640"/>
            <a:ext cx="2602382" cy="2080260"/>
          </a:xfrm>
          <a:prstGeom prst="roundRect">
            <a:avLst>
              <a:gd name="adj" fmla="val 6154"/>
            </a:avLst>
          </a:prstGeom>
          <a:solidFill>
            <a:srgbClr val="0A1122">
              <a:alpha val="68000"/>
            </a:srgbClr>
          </a:solidFill>
          <a:ln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6484925" y="1965960"/>
            <a:ext cx="512064" cy="512064"/>
          </a:xfrm>
          <a:prstGeom prst="ellipse">
            <a:avLst/>
          </a:prstGeom>
          <a:solidFill>
            <a:srgbClr val="4FD1FF">
              <a:alpha val="14000"/>
            </a:srgbClr>
          </a:solidFill>
          <a:ln w="9525">
            <a:solidFill>
              <a:srgbClr val="4FD1FF">
                <a:alpha val="40000"/>
              </a:srgbClr>
            </a:solidFill>
            <a:prstDash val="solid"/>
          </a:ln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97579" y="2078614"/>
            <a:ext cx="286756" cy="286756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6484925" y="2651760"/>
            <a:ext cx="205374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Attack chain analysis</a:t>
            </a:r>
            <a:endParaRPr lang="en-US" sz="1400" dirty="0"/>
          </a:p>
        </p:txBody>
      </p:sp>
      <p:sp>
        <p:nvSpPr>
          <p:cNvPr id="20" name="Text 14"/>
          <p:cNvSpPr txBox="1"/>
          <p:nvPr/>
        </p:nvSpPr>
        <p:spPr>
          <a:xfrm>
            <a:off x="6484925" y="3227832"/>
            <a:ext cx="2053742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D7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Events linked into a single picture</a:t>
            </a:r>
            <a:endParaRPr lang="en-US" sz="1150" dirty="0"/>
          </a:p>
        </p:txBody>
      </p:sp>
      <p:sp>
        <p:nvSpPr>
          <p:cNvPr id="21" name="Shape 15"/>
          <p:cNvSpPr/>
          <p:nvPr/>
        </p:nvSpPr>
        <p:spPr>
          <a:xfrm>
            <a:off x="9041587" y="1691640"/>
            <a:ext cx="2602382" cy="2080260"/>
          </a:xfrm>
          <a:prstGeom prst="roundRect">
            <a:avLst>
              <a:gd name="adj" fmla="val 6154"/>
            </a:avLst>
          </a:prstGeom>
          <a:solidFill>
            <a:srgbClr val="0A1122">
              <a:alpha val="68000"/>
            </a:srgbClr>
          </a:solidFill>
          <a:ln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9315907" y="1965960"/>
            <a:ext cx="512064" cy="512064"/>
          </a:xfrm>
          <a:prstGeom prst="ellipse">
            <a:avLst/>
          </a:prstGeom>
          <a:solidFill>
            <a:srgbClr val="4FD1FF">
              <a:alpha val="14000"/>
            </a:srgbClr>
          </a:solidFill>
          <a:ln w="9525">
            <a:solidFill>
              <a:srgbClr val="4FD1FF">
                <a:alpha val="40000"/>
              </a:srgbClr>
            </a:solidFill>
            <a:prstDash val="solid"/>
          </a:ln>
        </p:spPr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28561" y="2078614"/>
            <a:ext cx="286756" cy="286756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9315907" y="2651760"/>
            <a:ext cx="205374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Investigation</a:t>
            </a:r>
            <a:endParaRPr lang="en-US" sz="1400" dirty="0"/>
          </a:p>
        </p:txBody>
      </p:sp>
      <p:sp>
        <p:nvSpPr>
          <p:cNvPr id="25" name="Text 18"/>
          <p:cNvSpPr txBox="1"/>
          <p:nvPr/>
        </p:nvSpPr>
        <p:spPr>
          <a:xfrm>
            <a:off x="9315907" y="3227832"/>
            <a:ext cx="2053742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D7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Timeline and root cause of the incident</a:t>
            </a:r>
            <a:endParaRPr lang="en-US" sz="1150" dirty="0"/>
          </a:p>
        </p:txBody>
      </p:sp>
      <p:sp>
        <p:nvSpPr>
          <p:cNvPr id="26" name="Shape 19"/>
          <p:cNvSpPr/>
          <p:nvPr/>
        </p:nvSpPr>
        <p:spPr>
          <a:xfrm>
            <a:off x="548640" y="4000500"/>
            <a:ext cx="2602382" cy="2080260"/>
          </a:xfrm>
          <a:prstGeom prst="roundRect">
            <a:avLst>
              <a:gd name="adj" fmla="val 6154"/>
            </a:avLst>
          </a:prstGeom>
          <a:solidFill>
            <a:srgbClr val="0C3552">
              <a:alpha val="72000"/>
            </a:srgbClr>
          </a:solidFill>
          <a:ln w="9525">
            <a:solidFill>
              <a:srgbClr val="4FD1FF">
                <a:alpha val="65000"/>
              </a:srgbClr>
            </a:solidFill>
            <a:prstDash val="solid"/>
          </a:ln>
        </p:spPr>
      </p:sp>
      <p:sp>
        <p:nvSpPr>
          <p:cNvPr id="27" name="Shape 20"/>
          <p:cNvSpPr/>
          <p:nvPr/>
        </p:nvSpPr>
        <p:spPr>
          <a:xfrm>
            <a:off x="822960" y="4274820"/>
            <a:ext cx="512064" cy="512064"/>
          </a:xfrm>
          <a:prstGeom prst="ellipse">
            <a:avLst/>
          </a:prstGeom>
          <a:solidFill>
            <a:srgbClr val="4FD1FF">
              <a:alpha val="14000"/>
            </a:srgbClr>
          </a:solidFill>
          <a:ln w="9525">
            <a:solidFill>
              <a:srgbClr val="4FD1FF">
                <a:alpha val="40000"/>
              </a:srgbClr>
            </a:solidFill>
            <a:prstDash val="solid"/>
          </a:ln>
        </p:spPr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35614" y="4387474"/>
            <a:ext cx="286756" cy="286756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822960" y="4960620"/>
            <a:ext cx="205374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</a:t>
            </a:r>
            <a:endParaRPr lang="en-US" sz="1400" dirty="0"/>
          </a:p>
        </p:txBody>
      </p:sp>
      <p:sp>
        <p:nvSpPr>
          <p:cNvPr id="30" name="Text 22"/>
          <p:cNvSpPr txBox="1"/>
          <p:nvPr/>
        </p:nvSpPr>
        <p:spPr>
          <a:xfrm>
            <a:off x="822960" y="5536692"/>
            <a:ext cx="2053742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D7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Device isolation and process termination</a:t>
            </a:r>
            <a:endParaRPr lang="en-US" sz="1150" dirty="0"/>
          </a:p>
        </p:txBody>
      </p:sp>
      <p:sp>
        <p:nvSpPr>
          <p:cNvPr id="31" name="Shape 23"/>
          <p:cNvSpPr/>
          <p:nvPr/>
        </p:nvSpPr>
        <p:spPr>
          <a:xfrm>
            <a:off x="3379622" y="4000500"/>
            <a:ext cx="2602382" cy="2080260"/>
          </a:xfrm>
          <a:prstGeom prst="roundRect">
            <a:avLst>
              <a:gd name="adj" fmla="val 6154"/>
            </a:avLst>
          </a:prstGeom>
          <a:solidFill>
            <a:srgbClr val="0A1122">
              <a:alpha val="68000"/>
            </a:srgbClr>
          </a:solidFill>
          <a:ln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32" name="Shape 24"/>
          <p:cNvSpPr/>
          <p:nvPr/>
        </p:nvSpPr>
        <p:spPr>
          <a:xfrm>
            <a:off x="3653942" y="4274820"/>
            <a:ext cx="512064" cy="512064"/>
          </a:xfrm>
          <a:prstGeom prst="ellipse">
            <a:avLst/>
          </a:prstGeom>
          <a:solidFill>
            <a:srgbClr val="4FD1FF">
              <a:alpha val="14000"/>
            </a:srgbClr>
          </a:solidFill>
          <a:ln w="9525">
            <a:solidFill>
              <a:srgbClr val="4FD1FF">
                <a:alpha val="40000"/>
              </a:srgbClr>
            </a:solidFill>
            <a:prstDash val="solid"/>
          </a:ln>
        </p:spPr>
      </p:sp>
      <p:pic>
        <p:nvPicPr>
          <p:cNvPr id="33" name="Image 6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766596" y="4387474"/>
            <a:ext cx="286756" cy="286756"/>
          </a:xfrm>
          <a:prstGeom prst="rect">
            <a:avLst/>
          </a:prstGeom>
        </p:spPr>
      </p:pic>
      <p:sp>
        <p:nvSpPr>
          <p:cNvPr id="34" name="Text 25"/>
          <p:cNvSpPr txBox="1"/>
          <p:nvPr/>
        </p:nvSpPr>
        <p:spPr>
          <a:xfrm>
            <a:off x="3653942" y="4960620"/>
            <a:ext cx="205374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Centralised management</a:t>
            </a:r>
            <a:endParaRPr lang="en-US" sz="1400" dirty="0"/>
          </a:p>
        </p:txBody>
      </p:sp>
      <p:sp>
        <p:nvSpPr>
          <p:cNvPr id="35" name="Text 26"/>
          <p:cNvSpPr txBox="1"/>
          <p:nvPr/>
        </p:nvSpPr>
        <p:spPr>
          <a:xfrm>
            <a:off x="3653942" y="5536692"/>
            <a:ext cx="2053742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D7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Policies and agents from a single console</a:t>
            </a:r>
            <a:endParaRPr lang="en-US" sz="1150" dirty="0"/>
          </a:p>
        </p:txBody>
      </p:sp>
      <p:sp>
        <p:nvSpPr>
          <p:cNvPr id="36" name="Shape 27"/>
          <p:cNvSpPr/>
          <p:nvPr/>
        </p:nvSpPr>
        <p:spPr>
          <a:xfrm>
            <a:off x="6210605" y="4000500"/>
            <a:ext cx="2602382" cy="2080260"/>
          </a:xfrm>
          <a:prstGeom prst="roundRect">
            <a:avLst>
              <a:gd name="adj" fmla="val 6154"/>
            </a:avLst>
          </a:prstGeom>
          <a:solidFill>
            <a:srgbClr val="0A1122">
              <a:alpha val="68000"/>
            </a:srgbClr>
          </a:solidFill>
          <a:ln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37" name="Shape 28"/>
          <p:cNvSpPr/>
          <p:nvPr/>
        </p:nvSpPr>
        <p:spPr>
          <a:xfrm>
            <a:off x="6484925" y="4274820"/>
            <a:ext cx="512064" cy="512064"/>
          </a:xfrm>
          <a:prstGeom prst="ellipse">
            <a:avLst/>
          </a:prstGeom>
          <a:solidFill>
            <a:srgbClr val="4FD1FF">
              <a:alpha val="14000"/>
            </a:srgbClr>
          </a:solidFill>
          <a:ln w="9525">
            <a:solidFill>
              <a:srgbClr val="4FD1FF">
                <a:alpha val="40000"/>
              </a:srgbClr>
            </a:solidFill>
            <a:prstDash val="solid"/>
          </a:ln>
        </p:spPr>
      </p:sp>
      <p:pic>
        <p:nvPicPr>
          <p:cNvPr id="38" name="Image 7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97579" y="4387474"/>
            <a:ext cx="286756" cy="286756"/>
          </a:xfrm>
          <a:prstGeom prst="rect">
            <a:avLst/>
          </a:prstGeom>
        </p:spPr>
      </p:pic>
      <p:sp>
        <p:nvSpPr>
          <p:cNvPr id="39" name="Text 29"/>
          <p:cNvSpPr txBox="1"/>
          <p:nvPr/>
        </p:nvSpPr>
        <p:spPr>
          <a:xfrm>
            <a:off x="6484925" y="4960620"/>
            <a:ext cx="205374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</a:t>
            </a:r>
            <a:endParaRPr lang="en-US" sz="1400" dirty="0"/>
          </a:p>
        </p:txBody>
      </p:sp>
      <p:sp>
        <p:nvSpPr>
          <p:cNvPr id="40" name="Text 30"/>
          <p:cNvSpPr txBox="1"/>
          <p:nvPr/>
        </p:nvSpPr>
        <p:spPr>
          <a:xfrm>
            <a:off x="6484925" y="5536692"/>
            <a:ext cx="2053742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D7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exchange with other security systems</a:t>
            </a:r>
            <a:endParaRPr lang="en-US" sz="1150" dirty="0"/>
          </a:p>
        </p:txBody>
      </p:sp>
      <p:sp>
        <p:nvSpPr>
          <p:cNvPr id="41" name="Shape 31"/>
          <p:cNvSpPr/>
          <p:nvPr/>
        </p:nvSpPr>
        <p:spPr>
          <a:xfrm>
            <a:off x="9041587" y="4000500"/>
            <a:ext cx="2602382" cy="2080260"/>
          </a:xfrm>
          <a:prstGeom prst="roundRect">
            <a:avLst>
              <a:gd name="adj" fmla="val 6154"/>
            </a:avLst>
          </a:prstGeom>
          <a:solidFill>
            <a:srgbClr val="0A1122">
              <a:alpha val="68000"/>
            </a:srgbClr>
          </a:solidFill>
          <a:ln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42" name="Shape 32"/>
          <p:cNvSpPr/>
          <p:nvPr/>
        </p:nvSpPr>
        <p:spPr>
          <a:xfrm>
            <a:off x="9315907" y="4274820"/>
            <a:ext cx="512064" cy="512064"/>
          </a:xfrm>
          <a:prstGeom prst="ellipse">
            <a:avLst/>
          </a:prstGeom>
          <a:solidFill>
            <a:srgbClr val="4FD1FF">
              <a:alpha val="14000"/>
            </a:srgbClr>
          </a:solidFill>
          <a:ln w="9525">
            <a:solidFill>
              <a:srgbClr val="4FD1FF">
                <a:alpha val="40000"/>
              </a:srgbClr>
            </a:solidFill>
            <a:prstDash val="solid"/>
          </a:ln>
        </p:spPr>
      </p:sp>
      <p:pic>
        <p:nvPicPr>
          <p:cNvPr id="43" name="Image 8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428561" y="4387474"/>
            <a:ext cx="286756" cy="286756"/>
          </a:xfrm>
          <a:prstGeom prst="rect">
            <a:avLst/>
          </a:prstGeom>
        </p:spPr>
      </p:pic>
      <p:sp>
        <p:nvSpPr>
          <p:cNvPr id="44" name="Text 33"/>
          <p:cNvSpPr txBox="1"/>
          <p:nvPr/>
        </p:nvSpPr>
        <p:spPr>
          <a:xfrm>
            <a:off x="9315907" y="4960620"/>
            <a:ext cx="205374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Alerts and reports</a:t>
            </a:r>
            <a:endParaRPr lang="en-US" sz="1400" dirty="0"/>
          </a:p>
        </p:txBody>
      </p:sp>
      <p:sp>
        <p:nvSpPr>
          <p:cNvPr id="45" name="Text 34"/>
          <p:cNvSpPr txBox="1"/>
          <p:nvPr/>
        </p:nvSpPr>
        <p:spPr>
          <a:xfrm>
            <a:off x="9315907" y="5536692"/>
            <a:ext cx="2053742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D7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Notifications and incident reporting</a:t>
            </a:r>
            <a:endParaRPr lang="en-US" sz="1150" dirty="0"/>
          </a:p>
        </p:txBody>
      </p:sp>
    </p:spTree>
  </p:cSld>
  <p:clrMapOvr>
    <a:masterClrMapping/>
  </p:clrMapOvr>
  <p:transition xmlns:p="http://schemas.openxmlformats.org/presentationml/2006/main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2" fill="hold">
                      <p:stCondLst>
                        <p:cond delay="0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300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2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2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2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2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2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300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2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2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2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2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2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2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2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2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2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2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2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2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2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2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2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2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50" dirty="0">
                <a:solidFill>
                  <a:srgbClr val="4FD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ASPECTS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86384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Detection, response, </a:t>
            </a:r>
            <a:r>
              <a:rPr lang="en-US" sz="3000" b="1" dirty="0">
                <a:solidFill>
                  <a:srgbClr val="4FD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manageability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0936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7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r>
              <a:rPr lang="en-US" sz="900" dirty="0">
                <a:solidFill>
                  <a:srgbClr val="9AA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/  14    EDR</a:t>
            </a:r>
            <a:endParaRPr lang="en-US" sz="900" dirty="0"/>
          </a:p>
        </p:txBody>
      </p:sp>
      <p:pic>
        <p:nvPicPr>
          <p:cNvPr id="5" name="Image 0" descr="/home/claude/assets/identity_logo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46365" y="6309360"/>
            <a:ext cx="896690" cy="29260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691640"/>
            <a:ext cx="3546043" cy="4389120"/>
          </a:xfrm>
          <a:prstGeom prst="roundRect">
            <a:avLst>
              <a:gd name="adj" fmla="val 3610"/>
            </a:avLst>
          </a:prstGeom>
          <a:solidFill>
            <a:srgbClr val="0A1122">
              <a:alpha val="68000"/>
            </a:srgbClr>
          </a:solidFill>
          <a:ln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22960" y="1965960"/>
            <a:ext cx="512064" cy="512064"/>
          </a:xfrm>
          <a:prstGeom prst="ellipse">
            <a:avLst/>
          </a:prstGeom>
          <a:solidFill>
            <a:srgbClr val="FF6B76">
              <a:alpha val="14000"/>
            </a:srgbClr>
          </a:solidFill>
          <a:ln w="9525">
            <a:solidFill>
              <a:srgbClr val="FF6B76">
                <a:alpha val="40000"/>
              </a:srgbClr>
            </a:solidFill>
            <a:prstDash val="solid"/>
          </a:ln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5614" y="2078614"/>
            <a:ext cx="286756" cy="28675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822960" y="2651760"/>
            <a:ext cx="2997403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Detection of new attack types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822960" y="3337560"/>
            <a:ext cx="2997403" cy="914"/>
          </a:xfrm>
          <a:prstGeom prst="line">
            <a:avLst/>
          </a:prstGeom>
          <a:noFill/>
          <a:ln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822960" y="3474720"/>
            <a:ext cx="2997403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7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Fileless attacks</a:t>
            </a:r>
            <a:endParaRPr lang="en-US" sz="120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7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Ransomware</a:t>
            </a:r>
            <a:endParaRPr lang="en-US" sz="120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7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Exploitation of vulnerabilities</a:t>
            </a:r>
            <a:endParaRPr lang="en-US" sz="120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7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Attacks using legitimate tools (PowerShell and others)</a:t>
            </a:r>
            <a:endParaRPr lang="en-US" sz="120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7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Attempts to steal accounts</a:t>
            </a:r>
            <a:endParaRPr lang="en-US" sz="120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7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Persistence in the system and lateral movement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4323283" y="1691640"/>
            <a:ext cx="3546043" cy="4389120"/>
          </a:xfrm>
          <a:prstGeom prst="roundRect">
            <a:avLst>
              <a:gd name="adj" fmla="val 3610"/>
            </a:avLst>
          </a:prstGeom>
          <a:solidFill>
            <a:srgbClr val="0C3552">
              <a:alpha val="72000"/>
            </a:srgbClr>
          </a:solidFill>
          <a:ln w="9525">
            <a:solidFill>
              <a:srgbClr val="4FD1FF">
                <a:alpha val="65000"/>
              </a:srgbClr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4597603" y="1965960"/>
            <a:ext cx="512064" cy="512064"/>
          </a:xfrm>
          <a:prstGeom prst="ellipse">
            <a:avLst/>
          </a:prstGeom>
          <a:solidFill>
            <a:srgbClr val="4FD1FF">
              <a:alpha val="14000"/>
            </a:srgbClr>
          </a:solidFill>
          <a:ln w="9525">
            <a:solidFill>
              <a:srgbClr val="4FD1FF">
                <a:alpha val="40000"/>
              </a:srgbClr>
            </a:solidFill>
            <a:prstDash val="solid"/>
          </a:ln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10257" y="2078614"/>
            <a:ext cx="286756" cy="286756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4597603" y="2651760"/>
            <a:ext cx="2997403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Automatic response</a:t>
            </a:r>
            <a:endParaRPr lang="en-US" sz="1500" dirty="0"/>
          </a:p>
        </p:txBody>
      </p:sp>
      <p:sp>
        <p:nvSpPr>
          <p:cNvPr id="16" name="Shape 11"/>
          <p:cNvSpPr/>
          <p:nvPr/>
        </p:nvSpPr>
        <p:spPr>
          <a:xfrm>
            <a:off x="4597603" y="3337560"/>
            <a:ext cx="2997403" cy="914"/>
          </a:xfrm>
          <a:prstGeom prst="line">
            <a:avLst/>
          </a:prstGeom>
          <a:noFill/>
          <a:ln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4597603" y="3474720"/>
            <a:ext cx="2997403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7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Terminating a suspicious process</a:t>
            </a:r>
            <a:endParaRPr lang="en-US" sz="120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7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Quarantining a suspicious file</a:t>
            </a:r>
            <a:endParaRPr lang="en-US" sz="120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7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Blocking malicious files from running</a:t>
            </a:r>
            <a:endParaRPr lang="en-US" sz="120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7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Isolating a device from the network</a:t>
            </a:r>
            <a:endParaRPr lang="en-US" sz="120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7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Running pre-configured playbooks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8097926" y="1691640"/>
            <a:ext cx="3546043" cy="4389120"/>
          </a:xfrm>
          <a:prstGeom prst="roundRect">
            <a:avLst>
              <a:gd name="adj" fmla="val 3610"/>
            </a:avLst>
          </a:prstGeom>
          <a:solidFill>
            <a:srgbClr val="0A1122">
              <a:alpha val="68000"/>
            </a:srgbClr>
          </a:solidFill>
          <a:ln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8372246" y="1965960"/>
            <a:ext cx="512064" cy="512064"/>
          </a:xfrm>
          <a:prstGeom prst="ellipse">
            <a:avLst/>
          </a:prstGeom>
          <a:solidFill>
            <a:srgbClr val="4FD1FF">
              <a:alpha val="14000"/>
            </a:srgbClr>
          </a:solidFill>
          <a:ln w="9525">
            <a:solidFill>
              <a:srgbClr val="4FD1FF">
                <a:alpha val="40000"/>
              </a:srgbClr>
            </a:solidFill>
            <a:prstDash val="solid"/>
          </a:ln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84900" y="2078614"/>
            <a:ext cx="286756" cy="286756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8372246" y="2651760"/>
            <a:ext cx="2997403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Manageability</a:t>
            </a:r>
            <a:endParaRPr lang="en-US" sz="1500" dirty="0"/>
          </a:p>
        </p:txBody>
      </p:sp>
      <p:sp>
        <p:nvSpPr>
          <p:cNvPr id="22" name="Shape 16"/>
          <p:cNvSpPr/>
          <p:nvPr/>
        </p:nvSpPr>
        <p:spPr>
          <a:xfrm>
            <a:off x="8372246" y="3337560"/>
            <a:ext cx="2997403" cy="914"/>
          </a:xfrm>
          <a:prstGeom prst="line">
            <a:avLst/>
          </a:prstGeom>
          <a:noFill/>
          <a:ln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23" name="Text 17"/>
          <p:cNvSpPr txBox="1"/>
          <p:nvPr/>
        </p:nvSpPr>
        <p:spPr>
          <a:xfrm>
            <a:off x="8372246" y="3474720"/>
            <a:ext cx="2997403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7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of agents on endpoints</a:t>
            </a:r>
            <a:endParaRPr lang="en-US" sz="120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7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of security policies</a:t>
            </a:r>
            <a:endParaRPr lang="en-US" sz="120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7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of events and incidents</a:t>
            </a:r>
            <a:endParaRPr lang="en-US" sz="120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7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of administrator actions</a:t>
            </a:r>
            <a:endParaRPr lang="en-US" sz="1200" dirty="0"/>
          </a:p>
        </p:txBody>
      </p:sp>
    </p:spTree>
  </p:cSld>
  <p:clrMapOvr>
    <a:masterClrMapping/>
  </p:clrMapOvr>
  <p:transition xmlns:p="http://schemas.openxmlformats.org/presentationml/2006/main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2" fill="hold">
                      <p:stCondLst>
                        <p:cond delay="0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300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50" dirty="0">
                <a:solidFill>
                  <a:srgbClr val="4FD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PRACTICE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86384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Threats and </a:t>
            </a:r>
            <a:r>
              <a:rPr lang="en-US" sz="3000" b="1" dirty="0">
                <a:solidFill>
                  <a:srgbClr val="4FD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countermeasures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0936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7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r>
              <a:rPr lang="en-US" sz="900" dirty="0">
                <a:solidFill>
                  <a:srgbClr val="9AA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/  14    EDR</a:t>
            </a:r>
            <a:endParaRPr lang="en-US" sz="900" dirty="0"/>
          </a:p>
        </p:txBody>
      </p:sp>
      <p:pic>
        <p:nvPicPr>
          <p:cNvPr id="5" name="Image 0" descr="/home/claude/assets/identity_logo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46365" y="6309360"/>
            <a:ext cx="896690" cy="29260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169164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80" dirty="0">
                <a:solidFill>
                  <a:srgbClr val="FF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THREAT</a:t>
            </a:r>
            <a:endParaRPr lang="en-US" sz="1050" dirty="0"/>
          </a:p>
        </p:txBody>
      </p:sp>
      <p:sp>
        <p:nvSpPr>
          <p:cNvPr id="7" name="Text 4"/>
          <p:cNvSpPr txBox="1"/>
          <p:nvPr/>
        </p:nvSpPr>
        <p:spPr>
          <a:xfrm>
            <a:off x="4069080" y="1691640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80" dirty="0">
                <a:solidFill>
                  <a:srgbClr val="4FD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EDR CAPABILITY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8275320" y="1691640"/>
            <a:ext cx="364297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80" dirty="0">
                <a:solidFill>
                  <a:srgbClr val="7CF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548640" y="2167128"/>
            <a:ext cx="11095330" cy="806958"/>
          </a:xfrm>
          <a:prstGeom prst="roundRect">
            <a:avLst>
              <a:gd name="adj" fmla="val 15864"/>
            </a:avLst>
          </a:prstGeom>
          <a:solidFill>
            <a:srgbClr val="0C3552">
              <a:alpha val="72000"/>
            </a:srgbClr>
          </a:solidFill>
          <a:ln w="9525">
            <a:solidFill>
              <a:srgbClr val="4FD1FF">
                <a:alpha val="65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22960" y="2351151"/>
            <a:ext cx="438912" cy="438912"/>
          </a:xfrm>
          <a:prstGeom prst="ellipse">
            <a:avLst/>
          </a:prstGeom>
          <a:solidFill>
            <a:srgbClr val="FF6B76">
              <a:alpha val="14000"/>
            </a:srgbClr>
          </a:solidFill>
          <a:ln w="9525">
            <a:solidFill>
              <a:srgbClr val="FF6B76">
                <a:alpha val="40000"/>
              </a:srgbClr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9521" y="2447712"/>
            <a:ext cx="245791" cy="245791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426464" y="2167128"/>
            <a:ext cx="2514600" cy="806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Ransomware launch</a:t>
            </a:r>
            <a:endParaRPr lang="en-US" sz="13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85032" y="2470023"/>
            <a:ext cx="201168" cy="20116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4069080" y="2167128"/>
            <a:ext cx="3703320" cy="806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7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Detection of suspicious behaviour, blocking or isolation</a:t>
            </a:r>
            <a:endParaRPr lang="en-US" sz="12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91272" y="2470023"/>
            <a:ext cx="201168" cy="201168"/>
          </a:xfrm>
          <a:prstGeom prst="rect">
            <a:avLst/>
          </a:prstGeom>
        </p:spPr>
      </p:pic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75320" y="2433447"/>
            <a:ext cx="274320" cy="274320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8659368" y="2167128"/>
            <a:ext cx="2728570" cy="806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 potential damage</a:t>
            </a:r>
            <a:endParaRPr lang="en-US" sz="1250" dirty="0"/>
          </a:p>
        </p:txBody>
      </p:sp>
      <p:sp>
        <p:nvSpPr>
          <p:cNvPr id="18" name="Shape 11"/>
          <p:cNvSpPr/>
          <p:nvPr/>
        </p:nvSpPr>
        <p:spPr>
          <a:xfrm>
            <a:off x="548640" y="3202686"/>
            <a:ext cx="11095330" cy="806958"/>
          </a:xfrm>
          <a:prstGeom prst="roundRect">
            <a:avLst>
              <a:gd name="adj" fmla="val 15864"/>
            </a:avLst>
          </a:prstGeom>
          <a:solidFill>
            <a:srgbClr val="0A1122">
              <a:alpha val="68000"/>
            </a:srgbClr>
          </a:solidFill>
          <a:ln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9" name="Shape 12"/>
          <p:cNvSpPr/>
          <p:nvPr/>
        </p:nvSpPr>
        <p:spPr>
          <a:xfrm>
            <a:off x="822960" y="3386709"/>
            <a:ext cx="438912" cy="438912"/>
          </a:xfrm>
          <a:prstGeom prst="ellipse">
            <a:avLst/>
          </a:prstGeom>
          <a:solidFill>
            <a:srgbClr val="FF6B76">
              <a:alpha val="14000"/>
            </a:srgbClr>
          </a:solidFill>
          <a:ln w="9525">
            <a:solidFill>
              <a:srgbClr val="FF6B76">
                <a:alpha val="40000"/>
              </a:srgbClr>
            </a:solidFill>
            <a:prstDash val="solid"/>
          </a:ln>
        </p:spPr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9521" y="3483270"/>
            <a:ext cx="245791" cy="245791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1426464" y="3202686"/>
            <a:ext cx="2514600" cy="806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PowerShell used in an attack</a:t>
            </a:r>
            <a:endParaRPr lang="en-US" sz="1300" dirty="0"/>
          </a:p>
        </p:txBody>
      </p:sp>
      <p:pic>
        <p:nvPicPr>
          <p:cNvPr id="22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85032" y="3505581"/>
            <a:ext cx="201168" cy="201168"/>
          </a:xfrm>
          <a:prstGeom prst="rect">
            <a:avLst/>
          </a:prstGeom>
        </p:spPr>
      </p:pic>
      <p:sp>
        <p:nvSpPr>
          <p:cNvPr id="23" name="Text 14"/>
          <p:cNvSpPr txBox="1"/>
          <p:nvPr/>
        </p:nvSpPr>
        <p:spPr>
          <a:xfrm>
            <a:off x="4069080" y="3202686"/>
            <a:ext cx="3703320" cy="806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7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 of the process and command chain</a:t>
            </a:r>
            <a:endParaRPr lang="en-US" sz="1200" dirty="0"/>
          </a:p>
        </p:txBody>
      </p:sp>
      <p:pic>
        <p:nvPicPr>
          <p:cNvPr id="24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91272" y="3505581"/>
            <a:ext cx="201168" cy="201168"/>
          </a:xfrm>
          <a:prstGeom prst="rect">
            <a:avLst/>
          </a:prstGeom>
        </p:spPr>
      </p:pic>
      <p:pic>
        <p:nvPicPr>
          <p:cNvPr id="25" name="Image 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75320" y="3469005"/>
            <a:ext cx="274320" cy="274320"/>
          </a:xfrm>
          <a:prstGeom prst="rect">
            <a:avLst/>
          </a:prstGeom>
        </p:spPr>
      </p:pic>
      <p:sp>
        <p:nvSpPr>
          <p:cNvPr id="26" name="Text 15"/>
          <p:cNvSpPr txBox="1"/>
          <p:nvPr/>
        </p:nvSpPr>
        <p:spPr>
          <a:xfrm>
            <a:off x="8659368" y="3202686"/>
            <a:ext cx="2728570" cy="806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Suspicious activity identified</a:t>
            </a:r>
            <a:endParaRPr lang="en-US" sz="1250" dirty="0"/>
          </a:p>
        </p:txBody>
      </p:sp>
      <p:sp>
        <p:nvSpPr>
          <p:cNvPr id="27" name="Shape 16"/>
          <p:cNvSpPr/>
          <p:nvPr/>
        </p:nvSpPr>
        <p:spPr>
          <a:xfrm>
            <a:off x="548640" y="4238244"/>
            <a:ext cx="11095330" cy="806958"/>
          </a:xfrm>
          <a:prstGeom prst="roundRect">
            <a:avLst>
              <a:gd name="adj" fmla="val 15864"/>
            </a:avLst>
          </a:prstGeom>
          <a:solidFill>
            <a:srgbClr val="0A1122">
              <a:alpha val="68000"/>
            </a:srgbClr>
          </a:solidFill>
          <a:ln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8" name="Shape 17"/>
          <p:cNvSpPr/>
          <p:nvPr/>
        </p:nvSpPr>
        <p:spPr>
          <a:xfrm>
            <a:off x="822960" y="4422267"/>
            <a:ext cx="438912" cy="438912"/>
          </a:xfrm>
          <a:prstGeom prst="ellipse">
            <a:avLst/>
          </a:prstGeom>
          <a:solidFill>
            <a:srgbClr val="FF6B76">
              <a:alpha val="14000"/>
            </a:srgbClr>
          </a:solidFill>
          <a:ln w="9525">
            <a:solidFill>
              <a:srgbClr val="FF6B76">
                <a:alpha val="40000"/>
              </a:srgbClr>
            </a:solidFill>
            <a:prstDash val="solid"/>
          </a:ln>
        </p:spPr>
      </p:sp>
      <p:pic>
        <p:nvPicPr>
          <p:cNvPr id="29" name="Image 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9521" y="4518828"/>
            <a:ext cx="245791" cy="245791"/>
          </a:xfrm>
          <a:prstGeom prst="rect">
            <a:avLst/>
          </a:prstGeom>
        </p:spPr>
      </p:pic>
      <p:sp>
        <p:nvSpPr>
          <p:cNvPr id="30" name="Text 18"/>
          <p:cNvSpPr txBox="1"/>
          <p:nvPr/>
        </p:nvSpPr>
        <p:spPr>
          <a:xfrm>
            <a:off x="1426464" y="4238244"/>
            <a:ext cx="2514600" cy="806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Workstation compromise</a:t>
            </a:r>
            <a:endParaRPr lang="en-US" sz="1300" dirty="0"/>
          </a:p>
        </p:txBody>
      </p:sp>
      <p:pic>
        <p:nvPicPr>
          <p:cNvPr id="31" name="Image 10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85032" y="4541139"/>
            <a:ext cx="201168" cy="201168"/>
          </a:xfrm>
          <a:prstGeom prst="rect">
            <a:avLst/>
          </a:prstGeom>
        </p:spPr>
      </p:pic>
      <p:sp>
        <p:nvSpPr>
          <p:cNvPr id="32" name="Text 19"/>
          <p:cNvSpPr txBox="1"/>
          <p:nvPr/>
        </p:nvSpPr>
        <p:spPr>
          <a:xfrm>
            <a:off x="4069080" y="4238244"/>
            <a:ext cx="3703320" cy="806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7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 investigation and device isolation</a:t>
            </a:r>
            <a:endParaRPr lang="en-US" sz="1200" dirty="0"/>
          </a:p>
        </p:txBody>
      </p:sp>
      <p:pic>
        <p:nvPicPr>
          <p:cNvPr id="33" name="Image 11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91272" y="4541139"/>
            <a:ext cx="201168" cy="201168"/>
          </a:xfrm>
          <a:prstGeom prst="rect">
            <a:avLst/>
          </a:prstGeom>
        </p:spPr>
      </p:pic>
      <p:pic>
        <p:nvPicPr>
          <p:cNvPr id="34" name="Image 12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75320" y="4504563"/>
            <a:ext cx="274320" cy="274320"/>
          </a:xfrm>
          <a:prstGeom prst="rect">
            <a:avLst/>
          </a:prstGeom>
        </p:spPr>
      </p:pic>
      <p:sp>
        <p:nvSpPr>
          <p:cNvPr id="35" name="Text 20"/>
          <p:cNvSpPr txBox="1"/>
          <p:nvPr/>
        </p:nvSpPr>
        <p:spPr>
          <a:xfrm>
            <a:off x="8659368" y="4238244"/>
            <a:ext cx="2728570" cy="806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attack is kept from spreading</a:t>
            </a:r>
            <a:endParaRPr lang="en-US" sz="1250" dirty="0"/>
          </a:p>
        </p:txBody>
      </p:sp>
      <p:sp>
        <p:nvSpPr>
          <p:cNvPr id="36" name="Shape 21"/>
          <p:cNvSpPr/>
          <p:nvPr/>
        </p:nvSpPr>
        <p:spPr>
          <a:xfrm>
            <a:off x="548640" y="5273802"/>
            <a:ext cx="11095330" cy="806958"/>
          </a:xfrm>
          <a:prstGeom prst="roundRect">
            <a:avLst>
              <a:gd name="adj" fmla="val 15864"/>
            </a:avLst>
          </a:prstGeom>
          <a:solidFill>
            <a:srgbClr val="0A1122">
              <a:alpha val="68000"/>
            </a:srgbClr>
          </a:solidFill>
          <a:ln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37" name="Shape 22"/>
          <p:cNvSpPr/>
          <p:nvPr/>
        </p:nvSpPr>
        <p:spPr>
          <a:xfrm>
            <a:off x="822960" y="5457825"/>
            <a:ext cx="438912" cy="438912"/>
          </a:xfrm>
          <a:prstGeom prst="ellipse">
            <a:avLst/>
          </a:prstGeom>
          <a:solidFill>
            <a:srgbClr val="FF6B76">
              <a:alpha val="14000"/>
            </a:srgbClr>
          </a:solidFill>
          <a:ln w="9525">
            <a:solidFill>
              <a:srgbClr val="FF6B76">
                <a:alpha val="40000"/>
              </a:srgbClr>
            </a:solidFill>
            <a:prstDash val="solid"/>
          </a:ln>
        </p:spPr>
      </p:sp>
      <p:pic>
        <p:nvPicPr>
          <p:cNvPr id="38" name="Image 13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9521" y="5554386"/>
            <a:ext cx="245791" cy="245791"/>
          </a:xfrm>
          <a:prstGeom prst="rect">
            <a:avLst/>
          </a:prstGeom>
        </p:spPr>
      </p:pic>
      <p:sp>
        <p:nvSpPr>
          <p:cNvPr id="39" name="Text 23"/>
          <p:cNvSpPr txBox="1"/>
          <p:nvPr/>
        </p:nvSpPr>
        <p:spPr>
          <a:xfrm>
            <a:off x="1426464" y="5273802"/>
            <a:ext cx="2514600" cy="806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 attacker dwell time</a:t>
            </a:r>
            <a:endParaRPr lang="en-US" sz="1300" dirty="0"/>
          </a:p>
        </p:txBody>
      </p:sp>
      <p:pic>
        <p:nvPicPr>
          <p:cNvPr id="40" name="Image 1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85032" y="5576697"/>
            <a:ext cx="201168" cy="201168"/>
          </a:xfrm>
          <a:prstGeom prst="rect">
            <a:avLst/>
          </a:prstGeom>
        </p:spPr>
      </p:pic>
      <p:sp>
        <p:nvSpPr>
          <p:cNvPr id="41" name="Text 24"/>
          <p:cNvSpPr txBox="1"/>
          <p:nvPr/>
        </p:nvSpPr>
        <p:spPr>
          <a:xfrm>
            <a:off x="4069080" y="5273802"/>
            <a:ext cx="3703320" cy="806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7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Threat hunting and retrospective analysis</a:t>
            </a:r>
            <a:endParaRPr lang="en-US" sz="1200" dirty="0"/>
          </a:p>
        </p:txBody>
      </p:sp>
      <p:pic>
        <p:nvPicPr>
          <p:cNvPr id="42" name="Image 1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91272" y="5576697"/>
            <a:ext cx="201168" cy="201168"/>
          </a:xfrm>
          <a:prstGeom prst="rect">
            <a:avLst/>
          </a:prstGeom>
        </p:spPr>
      </p:pic>
      <p:pic>
        <p:nvPicPr>
          <p:cNvPr id="43" name="Image 1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75320" y="5540121"/>
            <a:ext cx="274320" cy="274320"/>
          </a:xfrm>
          <a:prstGeom prst="rect">
            <a:avLst/>
          </a:prstGeom>
        </p:spPr>
      </p:pic>
      <p:sp>
        <p:nvSpPr>
          <p:cNvPr id="44" name="Text 25"/>
          <p:cNvSpPr txBox="1"/>
          <p:nvPr/>
        </p:nvSpPr>
        <p:spPr>
          <a:xfrm>
            <a:off x="8659368" y="5273802"/>
            <a:ext cx="2728570" cy="806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Previously unnoticed activity identified</a:t>
            </a:r>
            <a:endParaRPr lang="en-US" sz="1250" dirty="0"/>
          </a:p>
        </p:txBody>
      </p:sp>
    </p:spTree>
  </p:cSld>
  <p:clrMapOvr>
    <a:masterClrMapping/>
  </p:clrMapOvr>
  <p:transition xmlns:p="http://schemas.openxmlformats.org/presentationml/2006/main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2" fill="hold">
                      <p:stCondLst>
                        <p:cond delay="0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300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2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2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2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2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2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300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2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2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2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2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2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2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2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2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2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2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2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2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2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2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2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50" dirty="0">
                <a:solidFill>
                  <a:srgbClr val="4FD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86384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Benefits for </a:t>
            </a:r>
            <a:r>
              <a:rPr lang="en-US" sz="3000" b="1" dirty="0">
                <a:solidFill>
                  <a:srgbClr val="4FD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0936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7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r>
              <a:rPr lang="en-US" sz="900" dirty="0">
                <a:solidFill>
                  <a:srgbClr val="9AA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/  14    EDR</a:t>
            </a:r>
            <a:endParaRPr lang="en-US" sz="900" dirty="0"/>
          </a:p>
        </p:txBody>
      </p:sp>
      <p:pic>
        <p:nvPicPr>
          <p:cNvPr id="5" name="Image 0" descr="/home/claude/assets/identity_logo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46365" y="6309360"/>
            <a:ext cx="896690" cy="29260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691640"/>
            <a:ext cx="3546043" cy="4389120"/>
          </a:xfrm>
          <a:prstGeom prst="roundRect">
            <a:avLst>
              <a:gd name="adj" fmla="val 3610"/>
            </a:avLst>
          </a:prstGeom>
          <a:solidFill>
            <a:srgbClr val="0C3552">
              <a:alpha val="72000"/>
            </a:srgbClr>
          </a:solidFill>
          <a:ln w="9525">
            <a:solidFill>
              <a:srgbClr val="4FD1FF">
                <a:alpha val="65000"/>
              </a:srgb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22960" y="1965960"/>
            <a:ext cx="299740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4FD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MTTD / MTTR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423160"/>
            <a:ext cx="299740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9AA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</a:t>
            </a:r>
            <a:r>
              <a:rPr lang="en-US" sz="2500" b="1" dirty="0">
                <a:solidFill>
                  <a:srgbClr val="4FD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→  </a:t>
            </a: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minutes</a:t>
            </a:r>
            <a:endParaRPr lang="en-US" sz="25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3291840"/>
            <a:ext cx="299740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D7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 time to detect and respond to incidents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822960" y="4160520"/>
            <a:ext cx="2997403" cy="914"/>
          </a:xfrm>
          <a:prstGeom prst="line">
            <a:avLst/>
          </a:prstGeom>
          <a:noFill/>
          <a:ln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4389120"/>
            <a:ext cx="457200" cy="457200"/>
          </a:xfrm>
          <a:prstGeom prst="ellipse">
            <a:avLst/>
          </a:prstGeom>
          <a:solidFill>
            <a:srgbClr val="4FD1FF">
              <a:alpha val="14000"/>
            </a:srgbClr>
          </a:solidFill>
          <a:ln w="9525">
            <a:solidFill>
              <a:srgbClr val="4FD1FF">
                <a:alpha val="40000"/>
              </a:srgbClr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3544" y="4489704"/>
            <a:ext cx="256032" cy="256032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822960" y="4983480"/>
            <a:ext cx="299740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 load on L1/L2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822960" y="5349240"/>
            <a:ext cx="299740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D7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Routine analyst work is automated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4323283" y="1691640"/>
            <a:ext cx="3546043" cy="1310640"/>
          </a:xfrm>
          <a:prstGeom prst="roundRect">
            <a:avLst>
              <a:gd name="adj" fmla="val 9767"/>
            </a:avLst>
          </a:prstGeom>
          <a:solidFill>
            <a:srgbClr val="0A1122">
              <a:alpha val="68000"/>
            </a:srgbClr>
          </a:solidFill>
          <a:ln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4551883" y="2118360"/>
            <a:ext cx="457200" cy="457200"/>
          </a:xfrm>
          <a:prstGeom prst="ellipse">
            <a:avLst/>
          </a:prstGeom>
          <a:solidFill>
            <a:srgbClr val="4FD1FF">
              <a:alpha val="14000"/>
            </a:srgbClr>
          </a:solidFill>
          <a:ln w="9525">
            <a:solidFill>
              <a:srgbClr val="4FD1FF">
                <a:alpha val="40000"/>
              </a:srgbClr>
            </a:solidFill>
            <a:prstDash val="solid"/>
          </a:ln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52467" y="2218944"/>
            <a:ext cx="256032" cy="256032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5210251" y="2017776"/>
            <a:ext cx="245790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Complex and targeted attacks</a:t>
            </a:r>
            <a:endParaRPr lang="en-US" sz="1350" dirty="0"/>
          </a:p>
        </p:txBody>
      </p:sp>
      <p:sp>
        <p:nvSpPr>
          <p:cNvPr id="19" name="Text 14"/>
          <p:cNvSpPr txBox="1"/>
          <p:nvPr/>
        </p:nvSpPr>
        <p:spPr>
          <a:xfrm>
            <a:off x="5210251" y="2346960"/>
            <a:ext cx="2457907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D7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Detection of attacks that other tools miss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8097926" y="1691640"/>
            <a:ext cx="3546043" cy="1310640"/>
          </a:xfrm>
          <a:prstGeom prst="roundRect">
            <a:avLst>
              <a:gd name="adj" fmla="val 9767"/>
            </a:avLst>
          </a:prstGeom>
          <a:solidFill>
            <a:srgbClr val="0A1122">
              <a:alpha val="68000"/>
            </a:srgbClr>
          </a:solidFill>
          <a:ln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8326526" y="2118360"/>
            <a:ext cx="457200" cy="457200"/>
          </a:xfrm>
          <a:prstGeom prst="ellipse">
            <a:avLst/>
          </a:prstGeom>
          <a:solidFill>
            <a:srgbClr val="4FD1FF">
              <a:alpha val="14000"/>
            </a:srgbClr>
          </a:solidFill>
          <a:ln w="9525">
            <a:solidFill>
              <a:srgbClr val="4FD1FF">
                <a:alpha val="40000"/>
              </a:srgbClr>
            </a:solidFill>
            <a:prstDash val="solid"/>
          </a:ln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27110" y="2218944"/>
            <a:ext cx="256032" cy="256032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8984894" y="2017776"/>
            <a:ext cx="245790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 damage</a:t>
            </a:r>
            <a:endParaRPr lang="en-US" sz="1350" dirty="0"/>
          </a:p>
        </p:txBody>
      </p:sp>
      <p:sp>
        <p:nvSpPr>
          <p:cNvPr id="24" name="Text 18"/>
          <p:cNvSpPr txBox="1"/>
          <p:nvPr/>
        </p:nvSpPr>
        <p:spPr>
          <a:xfrm>
            <a:off x="8984894" y="2346960"/>
            <a:ext cx="2457907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D7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Infected devices isolated and processes stopped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4323283" y="3230880"/>
            <a:ext cx="3546043" cy="1310640"/>
          </a:xfrm>
          <a:prstGeom prst="roundRect">
            <a:avLst>
              <a:gd name="adj" fmla="val 9767"/>
            </a:avLst>
          </a:prstGeom>
          <a:solidFill>
            <a:srgbClr val="0A1122">
              <a:alpha val="68000"/>
            </a:srgbClr>
          </a:solidFill>
          <a:ln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4551883" y="3657600"/>
            <a:ext cx="457200" cy="457200"/>
          </a:xfrm>
          <a:prstGeom prst="ellipse">
            <a:avLst/>
          </a:prstGeom>
          <a:solidFill>
            <a:srgbClr val="4FD1FF">
              <a:alpha val="14000"/>
            </a:srgbClr>
          </a:solidFill>
          <a:ln w="9525">
            <a:solidFill>
              <a:srgbClr val="4FD1FF">
                <a:alpha val="40000"/>
              </a:srgbClr>
            </a:solidFill>
            <a:prstDash val="solid"/>
          </a:ln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52467" y="3758184"/>
            <a:ext cx="256032" cy="256032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5210251" y="3557016"/>
            <a:ext cx="245790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and reputational risks</a:t>
            </a:r>
            <a:endParaRPr lang="en-US" sz="1350" dirty="0"/>
          </a:p>
        </p:txBody>
      </p:sp>
      <p:sp>
        <p:nvSpPr>
          <p:cNvPr id="29" name="Text 22"/>
          <p:cNvSpPr txBox="1"/>
          <p:nvPr/>
        </p:nvSpPr>
        <p:spPr>
          <a:xfrm>
            <a:off x="5210251" y="3886200"/>
            <a:ext cx="2457907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D7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Minimising the consequences of successful attacks, including ransomware</a:t>
            </a:r>
            <a:endParaRPr lang="en-US" sz="1100" dirty="0"/>
          </a:p>
        </p:txBody>
      </p:sp>
      <p:sp>
        <p:nvSpPr>
          <p:cNvPr id="30" name="Shape 23"/>
          <p:cNvSpPr/>
          <p:nvPr/>
        </p:nvSpPr>
        <p:spPr>
          <a:xfrm>
            <a:off x="8097926" y="3230880"/>
            <a:ext cx="3546043" cy="1310640"/>
          </a:xfrm>
          <a:prstGeom prst="roundRect">
            <a:avLst>
              <a:gd name="adj" fmla="val 9767"/>
            </a:avLst>
          </a:prstGeom>
          <a:solidFill>
            <a:srgbClr val="0A1122">
              <a:alpha val="68000"/>
            </a:srgbClr>
          </a:solidFill>
          <a:ln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8326526" y="3657600"/>
            <a:ext cx="457200" cy="457200"/>
          </a:xfrm>
          <a:prstGeom prst="ellipse">
            <a:avLst/>
          </a:prstGeom>
          <a:solidFill>
            <a:srgbClr val="4FD1FF">
              <a:alpha val="14000"/>
            </a:srgbClr>
          </a:solidFill>
          <a:ln w="9525">
            <a:solidFill>
              <a:srgbClr val="4FD1FF">
                <a:alpha val="40000"/>
              </a:srgbClr>
            </a:solidFill>
            <a:prstDash val="solid"/>
          </a:ln>
        </p:spPr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27110" y="3758184"/>
            <a:ext cx="256032" cy="256032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8984894" y="3557016"/>
            <a:ext cx="245790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continuity</a:t>
            </a:r>
            <a:endParaRPr lang="en-US" sz="1350" dirty="0"/>
          </a:p>
        </p:txBody>
      </p:sp>
      <p:sp>
        <p:nvSpPr>
          <p:cNvPr id="34" name="Text 26"/>
          <p:cNvSpPr txBox="1"/>
          <p:nvPr/>
        </p:nvSpPr>
        <p:spPr>
          <a:xfrm>
            <a:off x="8984894" y="3886200"/>
            <a:ext cx="2457907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D7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workstations and servers protected from downtime</a:t>
            </a:r>
            <a:endParaRPr lang="en-US" sz="1100" dirty="0"/>
          </a:p>
        </p:txBody>
      </p:sp>
      <p:sp>
        <p:nvSpPr>
          <p:cNvPr id="35" name="Shape 27"/>
          <p:cNvSpPr/>
          <p:nvPr/>
        </p:nvSpPr>
        <p:spPr>
          <a:xfrm>
            <a:off x="4323283" y="4770120"/>
            <a:ext cx="7320686" cy="1310640"/>
          </a:xfrm>
          <a:prstGeom prst="roundRect">
            <a:avLst>
              <a:gd name="adj" fmla="val 9767"/>
            </a:avLst>
          </a:prstGeom>
          <a:solidFill>
            <a:srgbClr val="0A1122">
              <a:alpha val="68000"/>
            </a:srgbClr>
          </a:solidFill>
          <a:ln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36" name="Shape 28"/>
          <p:cNvSpPr/>
          <p:nvPr/>
        </p:nvSpPr>
        <p:spPr>
          <a:xfrm>
            <a:off x="4551883" y="5196840"/>
            <a:ext cx="457200" cy="457200"/>
          </a:xfrm>
          <a:prstGeom prst="ellipse">
            <a:avLst/>
          </a:prstGeom>
          <a:solidFill>
            <a:srgbClr val="4FD1FF">
              <a:alpha val="14000"/>
            </a:srgbClr>
          </a:solidFill>
          <a:ln w="9525">
            <a:solidFill>
              <a:srgbClr val="4FD1FF">
                <a:alpha val="40000"/>
              </a:srgbClr>
            </a:solidFill>
            <a:prstDash val="solid"/>
          </a:ln>
        </p:spPr>
      </p:sp>
      <p:pic>
        <p:nvPicPr>
          <p:cNvPr id="37" name="Image 6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52467" y="5297424"/>
            <a:ext cx="256032" cy="256032"/>
          </a:xfrm>
          <a:prstGeom prst="rect">
            <a:avLst/>
          </a:prstGeom>
        </p:spPr>
      </p:pic>
      <p:sp>
        <p:nvSpPr>
          <p:cNvPr id="38" name="Text 29"/>
          <p:cNvSpPr txBox="1"/>
          <p:nvPr/>
        </p:nvSpPr>
        <p:spPr>
          <a:xfrm>
            <a:off x="5210251" y="5096256"/>
            <a:ext cx="623255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Provable investigations</a:t>
            </a:r>
            <a:endParaRPr lang="en-US" sz="1350" dirty="0"/>
          </a:p>
        </p:txBody>
      </p:sp>
      <p:sp>
        <p:nvSpPr>
          <p:cNvPr id="39" name="Text 30"/>
          <p:cNvSpPr txBox="1"/>
          <p:nvPr/>
        </p:nvSpPr>
        <p:spPr>
          <a:xfrm>
            <a:off x="5210251" y="5425440"/>
            <a:ext cx="6232550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D7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managed process and a full picture of every incident</a:t>
            </a:r>
            <a:endParaRPr lang="en-US" sz="1100" dirty="0"/>
          </a:p>
        </p:txBody>
      </p:sp>
    </p:spTree>
  </p:cSld>
  <p:clrMapOvr>
    <a:masterClrMapping/>
  </p:clrMapOvr>
  <p:transition xmlns:p="http://schemas.openxmlformats.org/presentationml/2006/main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2" fill="hold">
                      <p:stCondLst>
                        <p:cond delay="0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300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2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2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2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2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2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300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2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2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2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2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2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2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2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2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2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2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50" dirty="0">
                <a:solidFill>
                  <a:srgbClr val="4FD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86384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</a:t>
            </a:r>
            <a:r>
              <a:rPr lang="en-US" sz="3000" b="1" dirty="0">
                <a:solidFill>
                  <a:srgbClr val="4FD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0936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7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r>
              <a:rPr lang="en-US" sz="900" dirty="0">
                <a:solidFill>
                  <a:srgbClr val="9AA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/  14    EDR</a:t>
            </a:r>
            <a:endParaRPr lang="en-US" sz="900" dirty="0"/>
          </a:p>
        </p:txBody>
      </p:sp>
      <p:pic>
        <p:nvPicPr>
          <p:cNvPr id="5" name="Image 0" descr="/home/claude/assets/identity_logo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46365" y="6309360"/>
            <a:ext cx="896690" cy="29260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691640"/>
            <a:ext cx="4489704" cy="4389120"/>
          </a:xfrm>
          <a:prstGeom prst="roundRect">
            <a:avLst>
              <a:gd name="adj" fmla="val 2917"/>
            </a:avLst>
          </a:prstGeom>
          <a:solidFill>
            <a:srgbClr val="0C3552">
              <a:alpha val="72000"/>
            </a:srgbClr>
          </a:solidFill>
          <a:ln w="9525">
            <a:solidFill>
              <a:srgbClr val="4FD1FF">
                <a:alpha val="65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22960" y="1965960"/>
            <a:ext cx="548640" cy="548640"/>
          </a:xfrm>
          <a:prstGeom prst="ellipse">
            <a:avLst/>
          </a:prstGeom>
          <a:solidFill>
            <a:srgbClr val="4FD1FF">
              <a:alpha val="14000"/>
            </a:srgbClr>
          </a:solidFill>
          <a:ln w="9525">
            <a:solidFill>
              <a:srgbClr val="4FD1FF">
                <a:alpha val="40000"/>
              </a:srgbClr>
            </a:solidFill>
            <a:prstDash val="solid"/>
          </a:ln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3661" y="2086661"/>
            <a:ext cx="307238" cy="30723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822960" y="2697480"/>
            <a:ext cx="3941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4FD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CHOOSING A PLATFORM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822960" y="3017520"/>
            <a:ext cx="39410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EDR platform from a leading vendor for your infrastructure</a:t>
            </a:r>
            <a:endParaRPr lang="en-US" sz="1700" dirty="0"/>
          </a:p>
        </p:txBody>
      </p:sp>
      <p:sp>
        <p:nvSpPr>
          <p:cNvPr id="11" name="Text 7"/>
          <p:cNvSpPr txBox="1"/>
          <p:nvPr/>
        </p:nvSpPr>
        <p:spPr>
          <a:xfrm>
            <a:off x="822960" y="3931920"/>
            <a:ext cx="3941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AA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 is chosen based on: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822960" y="4297680"/>
            <a:ext cx="394106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fleet of workstations and servers and the operating systems in use</a:t>
            </a:r>
            <a:endParaRPr lang="en-US" sz="120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 on the customer's servers (on-premise)</a:t>
            </a:r>
            <a:endParaRPr lang="en-US" sz="120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 with SIEM, SOAR, ITSM and Active Directory</a:t>
            </a:r>
            <a:endParaRPr lang="en-US" sz="120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Regulator requirements and internal security policies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5266944" y="1691640"/>
            <a:ext cx="6377026" cy="1310640"/>
          </a:xfrm>
          <a:prstGeom prst="roundRect">
            <a:avLst>
              <a:gd name="adj" fmla="val 9767"/>
            </a:avLst>
          </a:prstGeom>
          <a:solidFill>
            <a:srgbClr val="0A1122">
              <a:alpha val="68000"/>
            </a:srgbClr>
          </a:solidFill>
          <a:ln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5495544" y="2072640"/>
            <a:ext cx="548640" cy="548640"/>
          </a:xfrm>
          <a:prstGeom prst="ellipse">
            <a:avLst/>
          </a:prstGeom>
          <a:solidFill>
            <a:srgbClr val="4FD1FF">
              <a:alpha val="14000"/>
            </a:srgbClr>
          </a:solidFill>
          <a:ln w="9525">
            <a:solidFill>
              <a:srgbClr val="4FD1FF">
                <a:alpha val="40000"/>
              </a:srgbClr>
            </a:solidFill>
            <a:prstDash val="solid"/>
          </a:ln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16245" y="2193341"/>
            <a:ext cx="307238" cy="30723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245352" y="2017776"/>
            <a:ext cx="519745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project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6245352" y="2346960"/>
            <a:ext cx="5197450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D7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 on a limited group of devices: effectiveness assessed on the real infrastructure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5266944" y="3230880"/>
            <a:ext cx="6377026" cy="1310640"/>
          </a:xfrm>
          <a:prstGeom prst="roundRect">
            <a:avLst>
              <a:gd name="adj" fmla="val 9767"/>
            </a:avLst>
          </a:prstGeom>
          <a:solidFill>
            <a:srgbClr val="0A1122">
              <a:alpha val="68000"/>
            </a:srgbClr>
          </a:solidFill>
          <a:ln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5495544" y="3611880"/>
            <a:ext cx="548640" cy="548640"/>
          </a:xfrm>
          <a:prstGeom prst="ellipse">
            <a:avLst/>
          </a:prstGeom>
          <a:solidFill>
            <a:srgbClr val="4FD1FF">
              <a:alpha val="14000"/>
            </a:srgbClr>
          </a:solidFill>
          <a:ln w="9525">
            <a:solidFill>
              <a:srgbClr val="4FD1FF">
                <a:alpha val="40000"/>
              </a:srgbClr>
            </a:solidFill>
            <a:prstDash val="solid"/>
          </a:ln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16245" y="3732581"/>
            <a:ext cx="307238" cy="307238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6245352" y="3557016"/>
            <a:ext cx="519745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Turnkey implementation</a:t>
            </a:r>
            <a:endParaRPr lang="en-US" sz="1500" dirty="0"/>
          </a:p>
        </p:txBody>
      </p:sp>
      <p:sp>
        <p:nvSpPr>
          <p:cNvPr id="22" name="Text 16"/>
          <p:cNvSpPr txBox="1"/>
          <p:nvPr/>
        </p:nvSpPr>
        <p:spPr>
          <a:xfrm>
            <a:off x="6245352" y="3886200"/>
            <a:ext cx="5197450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D7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Design, deployment, response rules and integrations, training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5266944" y="4770120"/>
            <a:ext cx="6377026" cy="1310640"/>
          </a:xfrm>
          <a:prstGeom prst="roundRect">
            <a:avLst>
              <a:gd name="adj" fmla="val 9767"/>
            </a:avLst>
          </a:prstGeom>
          <a:solidFill>
            <a:srgbClr val="0A1122">
              <a:alpha val="68000"/>
            </a:srgbClr>
          </a:solidFill>
          <a:ln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5495544" y="5151120"/>
            <a:ext cx="548640" cy="548640"/>
          </a:xfrm>
          <a:prstGeom prst="ellipse">
            <a:avLst/>
          </a:prstGeom>
          <a:solidFill>
            <a:srgbClr val="4FD1FF">
              <a:alpha val="14000"/>
            </a:srgbClr>
          </a:solidFill>
          <a:ln w="9525">
            <a:solidFill>
              <a:srgbClr val="4FD1FF">
                <a:alpha val="40000"/>
              </a:srgbClr>
            </a:solidFill>
            <a:prstDash val="solid"/>
          </a:ln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16245" y="5271821"/>
            <a:ext cx="307238" cy="307238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6245352" y="5096256"/>
            <a:ext cx="519745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</a:t>
            </a:r>
            <a:endParaRPr lang="en-US" sz="1500" dirty="0"/>
          </a:p>
        </p:txBody>
      </p:sp>
      <p:sp>
        <p:nvSpPr>
          <p:cNvPr id="27" name="Text 20"/>
          <p:cNvSpPr txBox="1"/>
          <p:nvPr/>
        </p:nvSpPr>
        <p:spPr>
          <a:xfrm>
            <a:off x="6245352" y="5425440"/>
            <a:ext cx="5197450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D7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support, policy updates and help with incident investigation</a:t>
            </a:r>
            <a:endParaRPr lang="en-US" sz="1200" dirty="0"/>
          </a:p>
        </p:txBody>
      </p:sp>
    </p:spTree>
  </p:cSld>
  <p:clrMapOvr>
    <a:masterClrMapping/>
  </p:clrMapOvr>
  <p:transition xmlns:p="http://schemas.openxmlformats.org/presentationml/2006/main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2" fill="hold">
                      <p:stCondLst>
                        <p:cond delay="0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300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2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2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2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50" dirty="0">
                <a:solidFill>
                  <a:srgbClr val="4FD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86384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 </a:t>
            </a:r>
            <a:r>
              <a:rPr lang="en-US" sz="3000" b="1" dirty="0">
                <a:solidFill>
                  <a:srgbClr val="4FD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0936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7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r>
              <a:rPr lang="en-US" sz="900" dirty="0">
                <a:solidFill>
                  <a:srgbClr val="9AA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/  14    EDR</a:t>
            </a:r>
            <a:endParaRPr lang="en-US" sz="900" dirty="0"/>
          </a:p>
        </p:txBody>
      </p:sp>
      <p:pic>
        <p:nvPicPr>
          <p:cNvPr id="5" name="Image 0" descr="/home/claude/assets/identity_logo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46365" y="6309360"/>
            <a:ext cx="896690" cy="29260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691640"/>
            <a:ext cx="2602382" cy="2080260"/>
          </a:xfrm>
          <a:prstGeom prst="roundRect">
            <a:avLst>
              <a:gd name="adj" fmla="val 6154"/>
            </a:avLst>
          </a:prstGeom>
          <a:solidFill>
            <a:srgbClr val="0A1122">
              <a:alpha val="68000"/>
            </a:srgbClr>
          </a:solidFill>
          <a:ln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22960" y="196596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4FD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2419502" y="1965960"/>
            <a:ext cx="457200" cy="457200"/>
          </a:xfrm>
          <a:prstGeom prst="ellipse">
            <a:avLst/>
          </a:prstGeom>
          <a:solidFill>
            <a:srgbClr val="4FD1FF">
              <a:alpha val="14000"/>
            </a:srgbClr>
          </a:solidFill>
          <a:ln w="9525">
            <a:solidFill>
              <a:srgbClr val="4FD1FF">
                <a:alpha val="40000"/>
              </a:srgbClr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20086" y="2066544"/>
            <a:ext cx="256032" cy="25603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822960" y="2560320"/>
            <a:ext cx="205374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project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822960" y="2926080"/>
            <a:ext cx="2053742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D7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Understanding how the system works</a:t>
            </a:r>
            <a:endParaRPr lang="en-US" sz="11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69310" y="2103120"/>
            <a:ext cx="192024" cy="192024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3379622" y="1691640"/>
            <a:ext cx="2602382" cy="2080260"/>
          </a:xfrm>
          <a:prstGeom prst="roundRect">
            <a:avLst>
              <a:gd name="adj" fmla="val 6154"/>
            </a:avLst>
          </a:prstGeom>
          <a:solidFill>
            <a:srgbClr val="0A1122">
              <a:alpha val="68000"/>
            </a:srgbClr>
          </a:solidFill>
          <a:ln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3653942" y="196596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4FD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15" name="Shape 10"/>
          <p:cNvSpPr/>
          <p:nvPr/>
        </p:nvSpPr>
        <p:spPr>
          <a:xfrm>
            <a:off x="5250485" y="1965960"/>
            <a:ext cx="457200" cy="457200"/>
          </a:xfrm>
          <a:prstGeom prst="ellipse">
            <a:avLst/>
          </a:prstGeom>
          <a:solidFill>
            <a:srgbClr val="4FD1FF">
              <a:alpha val="14000"/>
            </a:srgbClr>
          </a:solidFill>
          <a:ln w="9525">
            <a:solidFill>
              <a:srgbClr val="4FD1FF">
                <a:alpha val="40000"/>
              </a:srgbClr>
            </a:solidFill>
            <a:prstDash val="solid"/>
          </a:ln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51069" y="2066544"/>
            <a:ext cx="256032" cy="256032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3653942" y="2560320"/>
            <a:ext cx="205374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Assessment</a:t>
            </a:r>
            <a:endParaRPr lang="en-US" sz="1400" dirty="0"/>
          </a:p>
        </p:txBody>
      </p:sp>
      <p:sp>
        <p:nvSpPr>
          <p:cNvPr id="18" name="Text 12"/>
          <p:cNvSpPr txBox="1"/>
          <p:nvPr/>
        </p:nvSpPr>
        <p:spPr>
          <a:xfrm>
            <a:off x="3653942" y="2926080"/>
            <a:ext cx="2053742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D7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Inventory of workstations and servers, review of existing security tools</a:t>
            </a:r>
            <a:endParaRPr lang="en-US" sz="1150" dirty="0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00293" y="2103120"/>
            <a:ext cx="192024" cy="192024"/>
          </a:xfrm>
          <a:prstGeom prst="rect">
            <a:avLst/>
          </a:prstGeom>
        </p:spPr>
      </p:pic>
      <p:sp>
        <p:nvSpPr>
          <p:cNvPr id="20" name="Shape 13"/>
          <p:cNvSpPr/>
          <p:nvPr/>
        </p:nvSpPr>
        <p:spPr>
          <a:xfrm>
            <a:off x="6210605" y="1691640"/>
            <a:ext cx="2602382" cy="2080260"/>
          </a:xfrm>
          <a:prstGeom prst="roundRect">
            <a:avLst>
              <a:gd name="adj" fmla="val 6154"/>
            </a:avLst>
          </a:prstGeom>
          <a:solidFill>
            <a:srgbClr val="0A1122">
              <a:alpha val="68000"/>
            </a:srgbClr>
          </a:solidFill>
          <a:ln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1" name="Text 14"/>
          <p:cNvSpPr txBox="1"/>
          <p:nvPr/>
        </p:nvSpPr>
        <p:spPr>
          <a:xfrm>
            <a:off x="6484925" y="196596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4FD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22" name="Shape 15"/>
          <p:cNvSpPr/>
          <p:nvPr/>
        </p:nvSpPr>
        <p:spPr>
          <a:xfrm>
            <a:off x="8081467" y="1965960"/>
            <a:ext cx="457200" cy="457200"/>
          </a:xfrm>
          <a:prstGeom prst="ellipse">
            <a:avLst/>
          </a:prstGeom>
          <a:solidFill>
            <a:srgbClr val="4FD1FF">
              <a:alpha val="14000"/>
            </a:srgbClr>
          </a:solidFill>
          <a:ln w="9525">
            <a:solidFill>
              <a:srgbClr val="4FD1FF">
                <a:alpha val="40000"/>
              </a:srgbClr>
            </a:solidFill>
            <a:prstDash val="solid"/>
          </a:ln>
        </p:spPr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82051" y="2066544"/>
            <a:ext cx="256032" cy="256032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6484925" y="2560320"/>
            <a:ext cx="205374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</a:t>
            </a:r>
            <a:endParaRPr lang="en-US" sz="1400" dirty="0"/>
          </a:p>
        </p:txBody>
      </p:sp>
      <p:sp>
        <p:nvSpPr>
          <p:cNvPr id="25" name="Text 17"/>
          <p:cNvSpPr txBox="1"/>
          <p:nvPr/>
        </p:nvSpPr>
        <p:spPr>
          <a:xfrm>
            <a:off x="6484925" y="2926080"/>
            <a:ext cx="2053742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D7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 of the management platform, setting up interaction</a:t>
            </a:r>
            <a:endParaRPr lang="en-US" sz="1150" dirty="0"/>
          </a:p>
        </p:txBody>
      </p:sp>
      <p:pic>
        <p:nvPicPr>
          <p:cNvPr id="26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31275" y="2103120"/>
            <a:ext cx="192024" cy="192024"/>
          </a:xfrm>
          <a:prstGeom prst="rect">
            <a:avLst/>
          </a:prstGeom>
        </p:spPr>
      </p:pic>
      <p:sp>
        <p:nvSpPr>
          <p:cNvPr id="27" name="Shape 18"/>
          <p:cNvSpPr/>
          <p:nvPr/>
        </p:nvSpPr>
        <p:spPr>
          <a:xfrm>
            <a:off x="9041587" y="1691640"/>
            <a:ext cx="2602382" cy="2080260"/>
          </a:xfrm>
          <a:prstGeom prst="roundRect">
            <a:avLst>
              <a:gd name="adj" fmla="val 6154"/>
            </a:avLst>
          </a:prstGeom>
          <a:solidFill>
            <a:srgbClr val="0A1122">
              <a:alpha val="68000"/>
            </a:srgbClr>
          </a:solidFill>
          <a:ln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8" name="Text 19"/>
          <p:cNvSpPr txBox="1"/>
          <p:nvPr/>
        </p:nvSpPr>
        <p:spPr>
          <a:xfrm>
            <a:off x="9315907" y="196596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4FD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400" dirty="0"/>
          </a:p>
        </p:txBody>
      </p:sp>
      <p:sp>
        <p:nvSpPr>
          <p:cNvPr id="29" name="Shape 20"/>
          <p:cNvSpPr/>
          <p:nvPr/>
        </p:nvSpPr>
        <p:spPr>
          <a:xfrm>
            <a:off x="10912450" y="1965960"/>
            <a:ext cx="457200" cy="457200"/>
          </a:xfrm>
          <a:prstGeom prst="ellipse">
            <a:avLst/>
          </a:prstGeom>
          <a:solidFill>
            <a:srgbClr val="4FD1FF">
              <a:alpha val="14000"/>
            </a:srgbClr>
          </a:solidFill>
          <a:ln w="9525">
            <a:solidFill>
              <a:srgbClr val="4FD1FF">
                <a:alpha val="40000"/>
              </a:srgbClr>
            </a:solidFill>
            <a:prstDash val="solid"/>
          </a:ln>
        </p:spPr>
      </p:sp>
      <p:pic>
        <p:nvPicPr>
          <p:cNvPr id="30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013034" y="2066544"/>
            <a:ext cx="256032" cy="256032"/>
          </a:xfrm>
          <a:prstGeom prst="rect">
            <a:avLst/>
          </a:prstGeom>
        </p:spPr>
      </p:pic>
      <p:sp>
        <p:nvSpPr>
          <p:cNvPr id="31" name="Text 21"/>
          <p:cNvSpPr txBox="1"/>
          <p:nvPr/>
        </p:nvSpPr>
        <p:spPr>
          <a:xfrm>
            <a:off x="9315907" y="2560320"/>
            <a:ext cx="205374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 rules</a:t>
            </a:r>
            <a:endParaRPr lang="en-US" sz="1400" dirty="0"/>
          </a:p>
        </p:txBody>
      </p:sp>
      <p:sp>
        <p:nvSpPr>
          <p:cNvPr id="32" name="Text 22"/>
          <p:cNvSpPr txBox="1"/>
          <p:nvPr/>
        </p:nvSpPr>
        <p:spPr>
          <a:xfrm>
            <a:off x="9315907" y="2926080"/>
            <a:ext cx="2053742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D7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Incident priorities and escalation rules</a:t>
            </a:r>
            <a:endParaRPr lang="en-US" sz="1150" dirty="0"/>
          </a:p>
        </p:txBody>
      </p:sp>
      <p:sp>
        <p:nvSpPr>
          <p:cNvPr id="33" name="Shape 23"/>
          <p:cNvSpPr/>
          <p:nvPr/>
        </p:nvSpPr>
        <p:spPr>
          <a:xfrm>
            <a:off x="548640" y="4000500"/>
            <a:ext cx="3546043" cy="2080260"/>
          </a:xfrm>
          <a:prstGeom prst="roundRect">
            <a:avLst>
              <a:gd name="adj" fmla="val 6154"/>
            </a:avLst>
          </a:prstGeom>
          <a:solidFill>
            <a:srgbClr val="0A1122">
              <a:alpha val="68000"/>
            </a:srgbClr>
          </a:solidFill>
          <a:ln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34" name="Text 24"/>
          <p:cNvSpPr txBox="1"/>
          <p:nvPr/>
        </p:nvSpPr>
        <p:spPr>
          <a:xfrm>
            <a:off x="822960" y="427482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4FD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400" dirty="0"/>
          </a:p>
        </p:txBody>
      </p:sp>
      <p:sp>
        <p:nvSpPr>
          <p:cNvPr id="35" name="Shape 25"/>
          <p:cNvSpPr/>
          <p:nvPr/>
        </p:nvSpPr>
        <p:spPr>
          <a:xfrm>
            <a:off x="3363163" y="4274820"/>
            <a:ext cx="457200" cy="457200"/>
          </a:xfrm>
          <a:prstGeom prst="ellipse">
            <a:avLst/>
          </a:prstGeom>
          <a:solidFill>
            <a:srgbClr val="4FD1FF">
              <a:alpha val="14000"/>
            </a:srgbClr>
          </a:solidFill>
          <a:ln w="9525">
            <a:solidFill>
              <a:srgbClr val="4FD1FF">
                <a:alpha val="40000"/>
              </a:srgbClr>
            </a:solidFill>
            <a:prstDash val="solid"/>
          </a:ln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463747" y="4375404"/>
            <a:ext cx="256032" cy="256032"/>
          </a:xfrm>
          <a:prstGeom prst="rect">
            <a:avLst/>
          </a:prstGeom>
        </p:spPr>
      </p:pic>
      <p:sp>
        <p:nvSpPr>
          <p:cNvPr id="37" name="Text 26"/>
          <p:cNvSpPr txBox="1"/>
          <p:nvPr/>
        </p:nvSpPr>
        <p:spPr>
          <a:xfrm>
            <a:off x="822960" y="4869180"/>
            <a:ext cx="299740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</a:t>
            </a:r>
            <a:endParaRPr lang="en-US" sz="1400" dirty="0"/>
          </a:p>
        </p:txBody>
      </p:sp>
      <p:sp>
        <p:nvSpPr>
          <p:cNvPr id="38" name="Text 27"/>
          <p:cNvSpPr txBox="1"/>
          <p:nvPr/>
        </p:nvSpPr>
        <p:spPr>
          <a:xfrm>
            <a:off x="822960" y="5234940"/>
            <a:ext cx="2997403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D7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the existing perimeter: SIEM, SOAR, ITSM</a:t>
            </a:r>
            <a:endParaRPr lang="en-US" sz="1150" dirty="0"/>
          </a:p>
        </p:txBody>
      </p:sp>
      <p:pic>
        <p:nvPicPr>
          <p:cNvPr id="39" name="Image 9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12971" y="4411980"/>
            <a:ext cx="192024" cy="192024"/>
          </a:xfrm>
          <a:prstGeom prst="rect">
            <a:avLst/>
          </a:prstGeom>
        </p:spPr>
      </p:pic>
      <p:sp>
        <p:nvSpPr>
          <p:cNvPr id="40" name="Shape 28"/>
          <p:cNvSpPr/>
          <p:nvPr/>
        </p:nvSpPr>
        <p:spPr>
          <a:xfrm>
            <a:off x="4323283" y="4000500"/>
            <a:ext cx="3546043" cy="2080260"/>
          </a:xfrm>
          <a:prstGeom prst="roundRect">
            <a:avLst>
              <a:gd name="adj" fmla="val 6154"/>
            </a:avLst>
          </a:prstGeom>
          <a:solidFill>
            <a:srgbClr val="0A1122">
              <a:alpha val="68000"/>
            </a:srgbClr>
          </a:solidFill>
          <a:ln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41" name="Text 29"/>
          <p:cNvSpPr txBox="1"/>
          <p:nvPr/>
        </p:nvSpPr>
        <p:spPr>
          <a:xfrm>
            <a:off x="4597603" y="427482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4FD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400" dirty="0"/>
          </a:p>
        </p:txBody>
      </p:sp>
      <p:sp>
        <p:nvSpPr>
          <p:cNvPr id="42" name="Shape 30"/>
          <p:cNvSpPr/>
          <p:nvPr/>
        </p:nvSpPr>
        <p:spPr>
          <a:xfrm>
            <a:off x="7137806" y="4274820"/>
            <a:ext cx="457200" cy="457200"/>
          </a:xfrm>
          <a:prstGeom prst="ellipse">
            <a:avLst/>
          </a:prstGeom>
          <a:solidFill>
            <a:srgbClr val="4FD1FF">
              <a:alpha val="14000"/>
            </a:srgbClr>
          </a:solidFill>
          <a:ln w="9525">
            <a:solidFill>
              <a:srgbClr val="4FD1FF">
                <a:alpha val="40000"/>
              </a:srgbClr>
            </a:solidFill>
            <a:prstDash val="solid"/>
          </a:ln>
        </p:spPr>
      </p:sp>
      <p:pic>
        <p:nvPicPr>
          <p:cNvPr id="43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238390" y="4375404"/>
            <a:ext cx="256032" cy="256032"/>
          </a:xfrm>
          <a:prstGeom prst="rect">
            <a:avLst/>
          </a:prstGeom>
        </p:spPr>
      </p:pic>
      <p:sp>
        <p:nvSpPr>
          <p:cNvPr id="44" name="Text 31"/>
          <p:cNvSpPr txBox="1"/>
          <p:nvPr/>
        </p:nvSpPr>
        <p:spPr>
          <a:xfrm>
            <a:off x="4597603" y="4869180"/>
            <a:ext cx="299740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 and acceptance</a:t>
            </a:r>
            <a:endParaRPr lang="en-US" sz="1400" dirty="0"/>
          </a:p>
        </p:txBody>
      </p:sp>
      <p:sp>
        <p:nvSpPr>
          <p:cNvPr id="45" name="Text 32"/>
          <p:cNvSpPr txBox="1"/>
          <p:nvPr/>
        </p:nvSpPr>
        <p:spPr>
          <a:xfrm>
            <a:off x="4597603" y="5234940"/>
            <a:ext cx="2997403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D7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Checking how the system and response scenarios work</a:t>
            </a:r>
            <a:endParaRPr lang="en-US" sz="1150" dirty="0"/>
          </a:p>
        </p:txBody>
      </p:sp>
      <p:pic>
        <p:nvPicPr>
          <p:cNvPr id="46" name="Image 11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87614" y="4411980"/>
            <a:ext cx="192024" cy="192024"/>
          </a:xfrm>
          <a:prstGeom prst="rect">
            <a:avLst/>
          </a:prstGeom>
        </p:spPr>
      </p:pic>
      <p:sp>
        <p:nvSpPr>
          <p:cNvPr id="47" name="Shape 33"/>
          <p:cNvSpPr/>
          <p:nvPr/>
        </p:nvSpPr>
        <p:spPr>
          <a:xfrm>
            <a:off x="8097926" y="4000500"/>
            <a:ext cx="3546043" cy="2080260"/>
          </a:xfrm>
          <a:prstGeom prst="roundRect">
            <a:avLst>
              <a:gd name="adj" fmla="val 6154"/>
            </a:avLst>
          </a:prstGeom>
          <a:solidFill>
            <a:srgbClr val="0C3552">
              <a:alpha val="72000"/>
            </a:srgbClr>
          </a:solidFill>
          <a:ln w="9525">
            <a:solidFill>
              <a:srgbClr val="4FD1FF">
                <a:alpha val="65000"/>
              </a:srgbClr>
            </a:solidFill>
            <a:prstDash val="solid"/>
          </a:ln>
        </p:spPr>
      </p:sp>
      <p:sp>
        <p:nvSpPr>
          <p:cNvPr id="48" name="Text 34"/>
          <p:cNvSpPr txBox="1"/>
          <p:nvPr/>
        </p:nvSpPr>
        <p:spPr>
          <a:xfrm>
            <a:off x="8372246" y="427482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4FD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2400" dirty="0"/>
          </a:p>
        </p:txBody>
      </p:sp>
      <p:sp>
        <p:nvSpPr>
          <p:cNvPr id="49" name="Shape 35"/>
          <p:cNvSpPr/>
          <p:nvPr/>
        </p:nvSpPr>
        <p:spPr>
          <a:xfrm>
            <a:off x="10912450" y="4274820"/>
            <a:ext cx="457200" cy="457200"/>
          </a:xfrm>
          <a:prstGeom prst="ellipse">
            <a:avLst/>
          </a:prstGeom>
          <a:solidFill>
            <a:srgbClr val="4FD1FF">
              <a:alpha val="14000"/>
            </a:srgbClr>
          </a:solidFill>
          <a:ln w="9525">
            <a:solidFill>
              <a:srgbClr val="4FD1FF">
                <a:alpha val="40000"/>
              </a:srgbClr>
            </a:solidFill>
            <a:prstDash val="solid"/>
          </a:ln>
        </p:spPr>
      </p:sp>
      <p:pic>
        <p:nvPicPr>
          <p:cNvPr id="50" name="Image 12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013034" y="4375404"/>
            <a:ext cx="256032" cy="256032"/>
          </a:xfrm>
          <a:prstGeom prst="rect">
            <a:avLst/>
          </a:prstGeom>
        </p:spPr>
      </p:pic>
      <p:sp>
        <p:nvSpPr>
          <p:cNvPr id="51" name="Text 36"/>
          <p:cNvSpPr txBox="1"/>
          <p:nvPr/>
        </p:nvSpPr>
        <p:spPr>
          <a:xfrm>
            <a:off x="8372246" y="4869180"/>
            <a:ext cx="299740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operation</a:t>
            </a:r>
            <a:endParaRPr lang="en-US" sz="1400" dirty="0"/>
          </a:p>
        </p:txBody>
      </p:sp>
      <p:sp>
        <p:nvSpPr>
          <p:cNvPr id="52" name="Text 37"/>
          <p:cNvSpPr txBox="1"/>
          <p:nvPr/>
        </p:nvSpPr>
        <p:spPr>
          <a:xfrm>
            <a:off x="8372246" y="5234940"/>
            <a:ext cx="2997403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D7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Training, scaling to all devices, operational documentation</a:t>
            </a:r>
            <a:endParaRPr lang="en-US" sz="1150" dirty="0"/>
          </a:p>
        </p:txBody>
      </p:sp>
    </p:spTree>
  </p:cSld>
  <p:clrMapOvr>
    <a:masterClrMapping/>
  </p:clrMapOvr>
  <p:transition xmlns:p="http://schemas.openxmlformats.org/presentationml/2006/main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2" fill="hold">
                      <p:stCondLst>
                        <p:cond delay="0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300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2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2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2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2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2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300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2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2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2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2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2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2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2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2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2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2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2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2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2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2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2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2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52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52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52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52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52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52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52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005840"/>
            <a:ext cx="5433365" cy="4846320"/>
          </a:xfrm>
          <a:prstGeom prst="roundRect">
            <a:avLst>
              <a:gd name="adj" fmla="val 2642"/>
            </a:avLst>
          </a:prstGeom>
          <a:solidFill>
            <a:srgbClr val="0A1122">
              <a:alpha val="68000"/>
            </a:srgbClr>
          </a:solidFill>
          <a:ln w="9525">
            <a:solidFill>
              <a:srgbClr val="FFFFFF">
                <a:alpha val="20000"/>
              </a:srgbClr>
            </a:solidFill>
            <a:prstDash val="solid"/>
          </a:ln>
        </p:spPr>
      </p:sp>
      <p:pic>
        <p:nvPicPr>
          <p:cNvPr id="3" name="Image 0" descr="/home/claude/assets/identity_logo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1371600"/>
            <a:ext cx="1401079" cy="4572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60120" y="2057400"/>
            <a:ext cx="461040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50" dirty="0">
                <a:solidFill>
                  <a:srgbClr val="4FD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CONTACTS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960120" y="2377440"/>
            <a:ext cx="461040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Let's discuss protecting your devices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960120" y="3493008"/>
            <a:ext cx="461040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D7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will run an assessment, launch a pilot and choose an EDR solution for your infrastructure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960120" y="4251960"/>
            <a:ext cx="4610405" cy="914"/>
          </a:xfrm>
          <a:prstGeom prst="line">
            <a:avLst/>
          </a:prstGeom>
          <a:noFill/>
          <a:ln w="9525">
            <a:solidFill>
              <a:srgbClr val="FFFFFF">
                <a:alpha val="18000"/>
              </a:srgbClr>
            </a:solidFill>
            <a:prstDash val="solid"/>
          </a:ln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120" y="4471416"/>
            <a:ext cx="237744" cy="237744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325880" y="4434840"/>
            <a:ext cx="287304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 LLC</a:t>
            </a:r>
            <a:endParaRPr lang="en-US" sz="12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0120" y="4800600"/>
            <a:ext cx="237744" cy="237744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325880" y="4764024"/>
            <a:ext cx="287304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u="sng" dirty="0">
                <a:solidFill>
                  <a:srgbClr val="4FD1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+998 78 555-11-75</a:t>
            </a:r>
            <a:endParaRPr lang="en-US" sz="12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0120" y="5129784"/>
            <a:ext cx="237744" cy="237744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1325880" y="5093208"/>
            <a:ext cx="287304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u="sng" dirty="0">
                <a:solidFill>
                  <a:srgbClr val="4FD1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info@identity-uz.com</a:t>
            </a:r>
            <a:endParaRPr lang="en-US" sz="125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60120" y="5458968"/>
            <a:ext cx="237744" cy="237744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1325880" y="5422392"/>
            <a:ext cx="287304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D7DEEA"/>
                </a:solidFill>
                <a:latin typeface="Arial" pitchFamily="34" charset="0"/>
                <a:cs typeface="Arial" pitchFamily="34" charset="-120"/>
                <a:hlinkClick r:id="rId1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Submit a request: </a:t>
            </a:r>
            <a:r>
              <a:rPr lang="en-US" sz="1250" u="sng" dirty="0">
                <a:solidFill>
                  <a:srgbClr val="4FD1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identity-uz.com</a:t>
            </a:r>
            <a:endParaRPr lang="en-US" sz="1250" dirty="0"/>
          </a:p>
        </p:txBody>
      </p:sp>
      <p:sp>
        <p:nvSpPr>
          <p:cNvPr id="16" name="Shape 9"/>
          <p:cNvSpPr/>
          <p:nvPr/>
        </p:nvSpPr>
        <p:spPr>
          <a:xfrm>
            <a:off x="4418381" y="4352544"/>
            <a:ext cx="1207008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7" name="Image 5" descr="/home/claude/assets/qr_site.png">
            <a:hlinkClick r:id="rId11" tooltip="identity-uz.com"/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473245" y="4407408"/>
            <a:ext cx="1097280" cy="1097280"/>
          </a:xfrm>
          <a:prstGeom prst="rect">
            <a:avLst/>
          </a:prstGeom>
        </p:spPr>
      </p:pic>
    </p:spTree>
  </p:cSld>
  <p:clrMapOvr>
    <a:masterClrMapping/>
  </p:clrMapOvr>
  <p:transition xmlns:p="http://schemas.openxmlformats.org/presentationml/2006/main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2" fill="hold">
                      <p:stCondLst>
                        <p:cond delay="0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300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4FD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86384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Ways to get to know </a:t>
            </a:r>
            <a:pPr indent="0" marL="0">
              <a:buNone/>
            </a:pPr>
            <a:r>
              <a:rPr lang="en-US" sz="3000" b="1" dirty="0">
                <a:solidFill>
                  <a:srgbClr val="4FD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system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0936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7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pPr indent="0" marL="0">
              <a:buNone/>
            </a:pPr>
            <a:r>
              <a:rPr lang="en-US" sz="900" dirty="0">
                <a:solidFill>
                  <a:srgbClr val="9AA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/  14    EDR</a:t>
            </a:r>
            <a:endParaRPr lang="en-US" sz="900" dirty="0"/>
          </a:p>
        </p:txBody>
      </p:sp>
      <p:pic>
        <p:nvPicPr>
          <p:cNvPr id="5" name="Image 0" descr="/home/claude/assets/identity_logo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6365" y="6309360"/>
            <a:ext cx="896690" cy="29260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691640"/>
            <a:ext cx="3546043" cy="4389120"/>
          </a:xfrm>
          <a:prstGeom prst="roundRect">
            <a:avLst>
              <a:gd name="adj" fmla="val 3610"/>
            </a:avLst>
          </a:prstGeom>
          <a:solidFill>
            <a:srgbClr val="0A1122">
              <a:alpha val="68000"/>
            </a:srgbClr>
          </a:solidFill>
          <a:ln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22960" y="2075688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4FD1FF">
              <a:alpha val="15000"/>
            </a:srgbClr>
          </a:solidFill>
          <a:ln w="9525">
            <a:solidFill>
              <a:srgbClr val="4FD1FF">
                <a:alpha val="65000"/>
              </a:srgbClr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22960" y="207568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20" kern="0" dirty="0">
                <a:solidFill>
                  <a:srgbClr val="4FD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 1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3308299" y="1965960"/>
            <a:ext cx="512064" cy="512064"/>
          </a:xfrm>
          <a:prstGeom prst="ellipse">
            <a:avLst/>
          </a:prstGeom>
          <a:solidFill>
            <a:srgbClr val="4FD1FF">
              <a:alpha val="14000"/>
            </a:srgbClr>
          </a:solidFill>
          <a:ln w="9525">
            <a:solidFill>
              <a:srgbClr val="4FD1FF">
                <a:alpha val="40000"/>
              </a:srgbClr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0953" y="2078614"/>
            <a:ext cx="286756" cy="28675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822960" y="2651760"/>
            <a:ext cx="2997403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Demonstration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822960" y="3291840"/>
            <a:ext cx="299740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7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Getting to know the capabilities and interface of the system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822960" y="3977640"/>
            <a:ext cx="2997403" cy="914"/>
          </a:xfrm>
          <a:prstGeom prst="line">
            <a:avLst/>
          </a:prstGeom>
          <a:noFill/>
          <a:ln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822960" y="411480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9AA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INCLUDED</a:t>
            </a:r>
            <a:endParaRPr lang="en-US" sz="1000" dirty="0"/>
          </a:p>
        </p:txBody>
      </p:sp>
      <p:sp>
        <p:nvSpPr>
          <p:cNvPr id="15" name="Text 11"/>
          <p:cNvSpPr txBox="1"/>
          <p:nvPr/>
        </p:nvSpPr>
        <p:spPr>
          <a:xfrm>
            <a:off x="822960" y="4434840"/>
            <a:ext cx="2997403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on a test stand</a:t>
            </a:r>
            <a:endParaRPr lang="en-US" sz="120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Walkthrough of detection and response scenarios</a:t>
            </a:r>
            <a:endParaRPr lang="en-US" sz="120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Answers to questions from security specialists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4323283" y="1691640"/>
            <a:ext cx="3546043" cy="4389120"/>
          </a:xfrm>
          <a:prstGeom prst="roundRect">
            <a:avLst>
              <a:gd name="adj" fmla="val 3610"/>
            </a:avLst>
          </a:prstGeom>
          <a:solidFill>
            <a:srgbClr val="0A1122">
              <a:alpha val="68000"/>
            </a:srgbClr>
          </a:solidFill>
          <a:ln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4597603" y="2075688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4FD1FF">
              <a:alpha val="15000"/>
            </a:srgbClr>
          </a:solidFill>
          <a:ln w="9525">
            <a:solidFill>
              <a:srgbClr val="4FD1FF">
                <a:alpha val="65000"/>
              </a:srgbClr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4597603" y="207568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20" kern="0" dirty="0">
                <a:solidFill>
                  <a:srgbClr val="4FD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 2</a:t>
            </a:r>
            <a:endParaRPr lang="en-US" sz="850" dirty="0"/>
          </a:p>
        </p:txBody>
      </p:sp>
      <p:sp>
        <p:nvSpPr>
          <p:cNvPr id="19" name="Shape 15"/>
          <p:cNvSpPr/>
          <p:nvPr/>
        </p:nvSpPr>
        <p:spPr>
          <a:xfrm>
            <a:off x="7082942" y="1965960"/>
            <a:ext cx="512064" cy="512064"/>
          </a:xfrm>
          <a:prstGeom prst="ellipse">
            <a:avLst/>
          </a:prstGeom>
          <a:solidFill>
            <a:srgbClr val="4FD1FF">
              <a:alpha val="14000"/>
            </a:srgbClr>
          </a:solidFill>
          <a:ln w="9525">
            <a:solidFill>
              <a:srgbClr val="4FD1FF">
                <a:alpha val="40000"/>
              </a:srgbClr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95596" y="2078614"/>
            <a:ext cx="286756" cy="286756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4597603" y="2651760"/>
            <a:ext cx="2997403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on a test stand</a:t>
            </a:r>
            <a:endParaRPr lang="en-US" sz="1600" dirty="0"/>
          </a:p>
        </p:txBody>
      </p:sp>
      <p:sp>
        <p:nvSpPr>
          <p:cNvPr id="22" name="Text 17"/>
          <p:cNvSpPr txBox="1"/>
          <p:nvPr/>
        </p:nvSpPr>
        <p:spPr>
          <a:xfrm>
            <a:off x="4597603" y="3291840"/>
            <a:ext cx="299740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7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Checking key functions under controlled conditions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4597603" y="3977640"/>
            <a:ext cx="2997403" cy="914"/>
          </a:xfrm>
          <a:prstGeom prst="line">
            <a:avLst/>
          </a:prstGeom>
          <a:noFill/>
          <a:ln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4597603" y="411480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9AA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INCLUDED</a:t>
            </a:r>
            <a:endParaRPr lang="en-US" sz="1000" dirty="0"/>
          </a:p>
        </p:txBody>
      </p:sp>
      <p:sp>
        <p:nvSpPr>
          <p:cNvPr id="25" name="Text 20"/>
          <p:cNvSpPr txBox="1"/>
          <p:nvPr/>
        </p:nvSpPr>
        <p:spPr>
          <a:xfrm>
            <a:off x="4597603" y="4434840"/>
            <a:ext cx="2997403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stand with agents on test devices</a:t>
            </a:r>
            <a:endParaRPr lang="en-US" sz="120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Simulation of typical attacks</a:t>
            </a:r>
            <a:endParaRPr lang="en-US" sz="120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Assessment of how convenient the console is</a:t>
            </a:r>
            <a:endParaRPr lang="en-US" sz="1200" dirty="0"/>
          </a:p>
        </p:txBody>
      </p:sp>
      <p:sp>
        <p:nvSpPr>
          <p:cNvPr id="26" name="Shape 21"/>
          <p:cNvSpPr/>
          <p:nvPr/>
        </p:nvSpPr>
        <p:spPr>
          <a:xfrm>
            <a:off x="8097926" y="1691640"/>
            <a:ext cx="3546043" cy="4389120"/>
          </a:xfrm>
          <a:prstGeom prst="roundRect">
            <a:avLst>
              <a:gd name="adj" fmla="val 3610"/>
            </a:avLst>
          </a:prstGeom>
          <a:solidFill>
            <a:srgbClr val="0C3552">
              <a:alpha val="72000"/>
            </a:srgbClr>
          </a:solidFill>
          <a:ln w="9525">
            <a:solidFill>
              <a:srgbClr val="4FD1FF">
                <a:alpha val="65000"/>
              </a:srgbClr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8372246" y="2075688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4FD1FF">
              <a:alpha val="80000"/>
            </a:srgbClr>
          </a:solidFill>
          <a:ln w="9525">
            <a:solidFill>
              <a:srgbClr val="4FD1FF">
                <a:alpha val="65000"/>
              </a:srgbClr>
            </a:solidFill>
            <a:prstDash val="solid"/>
          </a:ln>
        </p:spPr>
      </p:sp>
      <p:sp>
        <p:nvSpPr>
          <p:cNvPr id="28" name="Text 23"/>
          <p:cNvSpPr txBox="1"/>
          <p:nvPr/>
        </p:nvSpPr>
        <p:spPr>
          <a:xfrm>
            <a:off x="8372246" y="207568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20" kern="0" dirty="0">
                <a:solidFill>
                  <a:srgbClr val="061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RECOMMENDED</a:t>
            </a:r>
            <a:endParaRPr lang="en-US" sz="850" dirty="0"/>
          </a:p>
        </p:txBody>
      </p:sp>
      <p:sp>
        <p:nvSpPr>
          <p:cNvPr id="29" name="Shape 24"/>
          <p:cNvSpPr/>
          <p:nvPr/>
        </p:nvSpPr>
        <p:spPr>
          <a:xfrm>
            <a:off x="10857586" y="1965960"/>
            <a:ext cx="512064" cy="512064"/>
          </a:xfrm>
          <a:prstGeom prst="ellipse">
            <a:avLst/>
          </a:prstGeom>
          <a:solidFill>
            <a:srgbClr val="4FD1FF">
              <a:alpha val="14000"/>
            </a:srgbClr>
          </a:solidFill>
          <a:ln w="9525">
            <a:solidFill>
              <a:srgbClr val="4FD1FF">
                <a:alpha val="40000"/>
              </a:srgbClr>
            </a:solidFill>
            <a:prstDash val="solid"/>
          </a:ln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70240" y="2078614"/>
            <a:ext cx="286756" cy="286756"/>
          </a:xfrm>
          <a:prstGeom prst="rect">
            <a:avLst/>
          </a:prstGeom>
        </p:spPr>
      </p:pic>
      <p:sp>
        <p:nvSpPr>
          <p:cNvPr id="31" name="Text 25"/>
          <p:cNvSpPr txBox="1"/>
          <p:nvPr/>
        </p:nvSpPr>
        <p:spPr>
          <a:xfrm>
            <a:off x="8372246" y="2651760"/>
            <a:ext cx="2997403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in the customer's infrastructure</a:t>
            </a:r>
            <a:endParaRPr lang="en-US" sz="1600" dirty="0"/>
          </a:p>
        </p:txBody>
      </p:sp>
      <p:sp>
        <p:nvSpPr>
          <p:cNvPr id="32" name="Text 26"/>
          <p:cNvSpPr txBox="1"/>
          <p:nvPr/>
        </p:nvSpPr>
        <p:spPr>
          <a:xfrm>
            <a:off x="8372246" y="3291840"/>
            <a:ext cx="299740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7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Running on real workstations and servers</a:t>
            </a:r>
            <a:endParaRPr lang="en-US" sz="1200" dirty="0"/>
          </a:p>
        </p:txBody>
      </p:sp>
      <p:sp>
        <p:nvSpPr>
          <p:cNvPr id="33" name="Shape 27"/>
          <p:cNvSpPr/>
          <p:nvPr/>
        </p:nvSpPr>
        <p:spPr>
          <a:xfrm>
            <a:off x="8372246" y="3977640"/>
            <a:ext cx="2997403" cy="914"/>
          </a:xfrm>
          <a:prstGeom prst="line">
            <a:avLst/>
          </a:prstGeom>
          <a:noFill/>
          <a:ln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34" name="Text 28"/>
          <p:cNvSpPr txBox="1"/>
          <p:nvPr/>
        </p:nvSpPr>
        <p:spPr>
          <a:xfrm>
            <a:off x="8372246" y="411480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9AA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INCLUDED</a:t>
            </a:r>
            <a:endParaRPr lang="en-US" sz="1000" dirty="0"/>
          </a:p>
        </p:txBody>
      </p:sp>
      <p:sp>
        <p:nvSpPr>
          <p:cNvPr id="35" name="Text 29"/>
          <p:cNvSpPr txBox="1"/>
          <p:nvPr/>
        </p:nvSpPr>
        <p:spPr>
          <a:xfrm>
            <a:off x="8372246" y="4434840"/>
            <a:ext cx="2997403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limited group of devices</a:t>
            </a:r>
            <a:endParaRPr lang="en-US" sz="120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telemetry and incidents</a:t>
            </a:r>
            <a:endParaRPr lang="en-US" sz="120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final report and implementation plan</a:t>
            </a:r>
            <a:endParaRPr lang="en-US" sz="1200" dirty="0"/>
          </a:p>
        </p:txBody>
      </p:sp>
    </p:spTree>
  </p:cSld>
  <p:clrMapOvr>
    <a:masterClrMapping/>
  </p:clrMapOvr>
  <p:transition xmlns:p="http://schemas.openxmlformats.org/presentationml/2006/main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2" fill="hold">
                      <p:stCondLst>
                        <p:cond delay="0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300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2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2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2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2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2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300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2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2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2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2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2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2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4FD1FF"/>
      </a:hlink>
      <a:folHlink>
        <a:srgbClr val="4FD1FF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953</Words>
  <Application>Microsoft Office PowerPoint</Application>
  <PresentationFormat>Широкоэкранный</PresentationFormat>
  <Paragraphs>239</Paragraphs>
  <Slides>13</Slides>
  <Notes>13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ООО «IDENTITY»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EDR — обнаружение и реагирование на угрозы</dc:title>
  <dc:subject>EDR — ООО «IDENTITY» Presentation</dc:subject>
  <dc:creator>ООО «IDENTITY»</dc:creator>
  <cp:lastModifiedBy>Hp Envy</cp:lastModifiedBy>
  <cp:revision>2</cp:revision>
  <dcterms:created xsi:type="dcterms:W3CDTF">2026-10-12T07:30:22Z</dcterms:created>
  <dcterms:modified xsi:type="dcterms:W3CDTF">2026-10-16T09:28:53Z</dcterms:modified>
</cp:coreProperties>
</file>