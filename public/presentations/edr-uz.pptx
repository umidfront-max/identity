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21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p Envy" initials="HE" lastIdx="1" clrIdx="0">
    <p:extLst>
      <p:ext uri="{19B8F6BF-5375-455C-9EA6-DF929625EA0E}">
        <p15:presenceInfo xmlns:p15="http://schemas.microsoft.com/office/powerpoint/2012/main" userId="Hp Env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8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1234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identity-uz.com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
<Relationships xmlns="http://schemas.openxmlformats.org/package/2006/relationships"><Relationship Id="rId8" Type="http://schemas.openxmlformats.org/officeDocument/2006/relationships/image" Target="../media/d2-image7.png"/><Relationship Id="rId3" Type="http://schemas.openxmlformats.org/officeDocument/2006/relationships/image" Target="../media/d2-evolution-dark.jpeg"/><Relationship Id="rId7" Type="http://schemas.openxmlformats.org/officeDocument/2006/relationships/image" Target="../media/d2-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d2-image5.png"/><Relationship Id="rId5" Type="http://schemas.openxmlformats.org/officeDocument/2006/relationships/image" Target="../media/d2-image4.png"/><Relationship Id="rId4" Type="http://schemas.openxmlformats.org/officeDocument/2006/relationships/image" Target="../media/d2-image2.png"/><Relationship Id="rId9" Type="http://schemas.openxmlformats.org/officeDocument/2006/relationships/image" Target="../media/d2-image8.png"/><Relationship Id="rId9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jpe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jpe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7.jpe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.png"/><Relationship Id="rId9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3.jpeg"/><Relationship Id="rId7" Type="http://schemas.openxmlformats.org/officeDocument/2006/relationships/image" Target="../media/image36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26.png"/><Relationship Id="rId5" Type="http://schemas.openxmlformats.org/officeDocument/2006/relationships/image" Target="../media/image34.png"/><Relationship Id="rId10" Type="http://schemas.openxmlformats.org/officeDocument/2006/relationships/image" Target="../media/image38.png"/><Relationship Id="rId4" Type="http://schemas.openxmlformats.org/officeDocument/2006/relationships/image" Target="../media/image2.png"/><Relationship Id="rId9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40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2.jpe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3.png"/><Relationship Id="rId10" Type="http://schemas.openxmlformats.org/officeDocument/2006/relationships/image" Target="../media/image46.png"/><Relationship Id="rId4" Type="http://schemas.openxmlformats.org/officeDocument/2006/relationships/image" Target="../media/image2.png"/><Relationship Id="rId9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7.jpe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2.png"/><Relationship Id="rId9" Type="http://schemas.openxmlformats.org/officeDocument/2006/relationships/image" Target="../media/image5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4.jpe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9.jpeg"/><Relationship Id="rId7" Type="http://schemas.openxmlformats.org/officeDocument/2006/relationships/image" Target="../media/image10.png"/><Relationship Id="rId12" Type="http://schemas.openxmlformats.org/officeDocument/2006/relationships/image" Target="../media/image5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0" Type="http://schemas.openxmlformats.org/officeDocument/2006/relationships/image" Target="../media/image26.png"/><Relationship Id="rId4" Type="http://schemas.openxmlformats.org/officeDocument/2006/relationships/image" Target="../media/image2.png"/><Relationship Id="rId9" Type="http://schemas.openxmlformats.org/officeDocument/2006/relationships/image" Target="../media/image6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3.jpeg"/><Relationship Id="rId7" Type="http://schemas.openxmlformats.org/officeDocument/2006/relationships/hyperlink" Target="tel:+998785551175" TargetMode="External"/><Relationship Id="rId12" Type="http://schemas.openxmlformats.org/officeDocument/2006/relationships/image" Target="../media/image6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11" Type="http://schemas.openxmlformats.org/officeDocument/2006/relationships/hyperlink" Target="https://identity-uz.com" TargetMode="External"/><Relationship Id="rId5" Type="http://schemas.openxmlformats.org/officeDocument/2006/relationships/image" Target="../media/image52.png"/><Relationship Id="rId10" Type="http://schemas.openxmlformats.org/officeDocument/2006/relationships/image" Target="../media/image24.png"/><Relationship Id="rId4" Type="http://schemas.openxmlformats.org/officeDocument/2006/relationships/image" Target="../media/image2.png"/><Relationship Id="rId9" Type="http://schemas.openxmlformats.org/officeDocument/2006/relationships/hyperlink" Target="mailto:info@identity-uz.com" TargetMode="Externa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fmt-Slide-1-image-1.jpeg"/><Relationship Id="rId2" Type="http://schemas.openxmlformats.org/officeDocument/2006/relationships/image" Target="../media/fmt-image-1-2.png"/><Relationship Id="rId3" Type="http://schemas.openxmlformats.org/officeDocument/2006/relationships/image" Target="../media/fmt-image-1-3.png"/><Relationship Id="rId4" Type="http://schemas.openxmlformats.org/officeDocument/2006/relationships/image" Target="../media/fmt-image-1-4.png"/><Relationship Id="rId5" Type="http://schemas.openxmlformats.org/officeDocument/2006/relationships/image" Target="../media/fmt-image-1-5.png"/><Relationship Id="rId6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5433365" cy="4572000"/>
          </a:xfrm>
          <a:prstGeom prst="roundRect">
            <a:avLst>
              <a:gd name="adj" fmla="val 2800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3" name="Image 0" descr="/home/claude/assets/identity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1508760"/>
            <a:ext cx="1401079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60120" y="2240280"/>
            <a:ext cx="46104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OXIRGI QURILMALAR HIMOYASI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960120" y="2514600"/>
            <a:ext cx="461040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EDR</a:t>
            </a:r>
            <a:endParaRPr lang="en-US" sz="44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Tahdidlarni aniqlash va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ularga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javob berish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3062176" y="4018788"/>
            <a:ext cx="34865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Tahdidlar </a:t>
            </a:r>
            <a:r>
              <a:rPr lang="en-US" sz="1400" dirty="0" err="1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ko‘rinuvchanligini</a:t>
            </a:r>
            <a:r>
              <a:rPr lang="en-US" sz="14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oshirish</a:t>
            </a:r>
            <a:r>
              <a:rPr lang="en-US" sz="14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960120" y="443484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60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60120" y="4434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Aniqlash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60320" y="443484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60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560320" y="4434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Tergov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160520" y="443484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6000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160520" y="4434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Javob berish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60120" y="4983480"/>
            <a:ext cx="4610405" cy="914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60120" y="5102352"/>
            <a:ext cx="461040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«IDENTITY» MChJ</a:t>
            </a:r>
            <a:r>
              <a:rPr lang="en-US" sz="115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+998 78 555-11-75   ·   </a:t>
            </a:r>
            <a:r>
              <a:rPr lang="en-US" sz="1150" u="sng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identity-uz.com</a:t>
            </a:r>
            <a:endParaRPr lang="en-US" sz="115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30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/home/claude/assets/identity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1468" y="274320"/>
            <a:ext cx="784604" cy="256032"/>
          </a:xfrm>
          <a:prstGeom prst="rect">
            <a:avLst/>
          </a:prstGeom>
        </p:spPr>
      </p:pic>
    </p:spTree>
  </p:cSld>
  <p:clrMapOvr>
    <a:masterClrMapping/>
  </p:clrMapOvr>
  <p:transition xmlns:p="http://schemas.openxmlformats.org/presentationml/2006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VAZIFALAR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Nima uchun </a:t>
            </a:r>
            <a:r>
              <a:rPr lang="en-US" sz="30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EDR kerak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093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9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14    EDR</a:t>
            </a:r>
            <a:endParaRPr lang="en-US" sz="900" dirty="0"/>
          </a:p>
        </p:txBody>
      </p:sp>
      <p:pic>
        <p:nvPicPr>
          <p:cNvPr id="5" name="Image 0" descr="/home/claude/assets/identity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6365" y="6309360"/>
            <a:ext cx="896690" cy="2926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2602382" cy="2240280"/>
          </a:xfrm>
          <a:prstGeom prst="roundRect">
            <a:avLst>
              <a:gd name="adj" fmla="val 571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965960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2364638" y="1965960"/>
            <a:ext cx="512064" cy="51206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7292" y="2078614"/>
            <a:ext cx="286756" cy="2867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22960" y="2651760"/>
            <a:ext cx="20537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Aniqlash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063240"/>
            <a:ext cx="20537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Shubhali xatti-harakatlar va yashirin tahdidlarni aniqlash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379622" y="1691640"/>
            <a:ext cx="2602382" cy="2240280"/>
          </a:xfrm>
          <a:prstGeom prst="roundRect">
            <a:avLst>
              <a:gd name="adj" fmla="val 571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653942" y="1965960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5195621" y="1965960"/>
            <a:ext cx="512064" cy="51206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8275" y="2078614"/>
            <a:ext cx="286756" cy="28675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653942" y="2651760"/>
            <a:ext cx="20537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Tergov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653942" y="3063240"/>
            <a:ext cx="20537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Hodisalar zanjirini tiklash va asosiy sababni aniqlash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210605" y="1691640"/>
            <a:ext cx="2602382" cy="2240280"/>
          </a:xfrm>
          <a:prstGeom prst="roundRect">
            <a:avLst>
              <a:gd name="adj" fmla="val 571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484925" y="1965960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Shape 15"/>
          <p:cNvSpPr/>
          <p:nvPr/>
        </p:nvSpPr>
        <p:spPr>
          <a:xfrm>
            <a:off x="8026603" y="1965960"/>
            <a:ext cx="512064" cy="51206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9257" y="2078614"/>
            <a:ext cx="286756" cy="2867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484925" y="2651760"/>
            <a:ext cx="20537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Javob berish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484925" y="3063240"/>
            <a:ext cx="20537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Qurilmalarni izolyatsiya qilish va zararli faoliyatni to‘xtatish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9041587" y="1691640"/>
            <a:ext cx="2602382" cy="2240280"/>
          </a:xfrm>
          <a:prstGeom prst="roundRect">
            <a:avLst>
              <a:gd name="adj" fmla="val 571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9315907" y="1965960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Shape 20"/>
          <p:cNvSpPr/>
          <p:nvPr/>
        </p:nvSpPr>
        <p:spPr>
          <a:xfrm>
            <a:off x="10857586" y="1965960"/>
            <a:ext cx="512064" cy="51206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0240" y="2078614"/>
            <a:ext cx="286756" cy="286756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9315907" y="2651760"/>
            <a:ext cx="20537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Xavflarni kamaytirish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9315907" y="3063240"/>
            <a:ext cx="20537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Zararni cheklash va AX samaradorligini oshirish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548640" y="4160520"/>
            <a:ext cx="11095330" cy="1920240"/>
          </a:xfrm>
          <a:prstGeom prst="roundRect">
            <a:avLst>
              <a:gd name="adj" fmla="val 6667"/>
            </a:avLst>
          </a:prstGeom>
          <a:solidFill>
            <a:srgbClr val="0C3552">
              <a:alpha val="72000"/>
            </a:srgbClr>
          </a:solidFill>
          <a:ln w="9525">
            <a:solidFill>
              <a:srgbClr val="4FD1FF">
                <a:alpha val="65000"/>
              </a:srgbClr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822960" y="4434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NATIJADA</a:t>
            </a:r>
            <a:endParaRPr lang="en-US" sz="11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60" y="4953762"/>
            <a:ext cx="310896" cy="310896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280160" y="4846320"/>
            <a:ext cx="4656125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Muhim ish stansiyalari va serverlar to‘xtab qolish xavfi kamayadi</a:t>
            </a:r>
            <a:endParaRPr lang="en-US" sz="125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0605" y="4953762"/>
            <a:ext cx="310896" cy="310896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6667805" y="4846320"/>
            <a:ext cx="4656125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Maxfiy ma’lumotlar ruxsatsiz kirish va o‘g‘irlanishdan himoyalanadi</a:t>
            </a:r>
            <a:endParaRPr lang="en-US" sz="125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2960" y="5479542"/>
            <a:ext cx="310896" cy="310896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1280160" y="5372100"/>
            <a:ext cx="4656125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Axborot xavfsizligi hodisalari ko‘rinuvchanligi oshadi</a:t>
            </a:r>
            <a:endParaRPr lang="en-US" sz="1250" dirty="0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0605" y="5479542"/>
            <a:ext cx="310896" cy="310896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6667805" y="5372100"/>
            <a:ext cx="4656125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Markazlashgan hodisa ma’lumotlari tergovni tezlashtiradi</a:t>
            </a:r>
            <a:endParaRPr lang="en-US" sz="125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30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30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YECHIM ARXITEKTURASI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EDR </a:t>
            </a:r>
            <a:r>
              <a:rPr lang="en-US" sz="30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komponentlari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093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9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14    EDR</a:t>
            </a:r>
            <a:endParaRPr lang="en-US" sz="900" dirty="0"/>
          </a:p>
        </p:txBody>
      </p:sp>
      <p:pic>
        <p:nvPicPr>
          <p:cNvPr id="5" name="Image 0" descr="/home/claude/assets/identity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6365" y="6309360"/>
            <a:ext cx="896690" cy="2926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3546043" cy="4389120"/>
          </a:xfrm>
          <a:prstGeom prst="roundRect">
            <a:avLst>
              <a:gd name="adj" fmla="val 3610"/>
            </a:avLst>
          </a:prstGeom>
          <a:solidFill>
            <a:srgbClr val="0C3552">
              <a:alpha val="72000"/>
            </a:srgbClr>
          </a:solidFill>
          <a:ln w="9525">
            <a:solidFill>
              <a:srgbClr val="4FD1FF">
                <a:alpha val="65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2066544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44752" y="1965960"/>
            <a:ext cx="23756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Telemetriya va lokal nazorat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822960" y="2606040"/>
            <a:ext cx="2997403" cy="914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2960" y="2743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1207008" y="2743200"/>
            <a:ext cx="2613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EDR agenti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1207008" y="3017520"/>
            <a:ext cx="2613355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Jarayonlar, fayllar, tarmoq va foydalanuvchi harakatlari ma’lumotlarini yig‘adi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" y="350901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1207008" y="3509010"/>
            <a:ext cx="2613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Telemetriya yig‘ish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1207008" y="3783330"/>
            <a:ext cx="2613355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Xavfsizlik hodisalarini qayd etadi va tahlilga uzatadi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822960" y="42748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1207008" y="4274820"/>
            <a:ext cx="2613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Tahdidlarni aniqlash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1207008" y="4549140"/>
            <a:ext cx="2613355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Shubhali xatti-harakat, komprometatsiya belgilari, hujum usullari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323283" y="1691640"/>
            <a:ext cx="3546043" cy="4389120"/>
          </a:xfrm>
          <a:prstGeom prst="roundRect">
            <a:avLst>
              <a:gd name="adj" fmla="val 3610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597603" y="1965960"/>
            <a:ext cx="457200" cy="45720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8187" y="2066544"/>
            <a:ext cx="256032" cy="256032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5219395" y="1965960"/>
            <a:ext cx="23756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Insidentlar tahlili va hujumlarni to‘xtatish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4597603" y="2606040"/>
            <a:ext cx="2997403" cy="914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4597603" y="350901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4"/>
          <p:cNvSpPr txBox="1"/>
          <p:nvPr/>
        </p:nvSpPr>
        <p:spPr>
          <a:xfrm>
            <a:off x="4981651" y="3509010"/>
            <a:ext cx="2613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Insidentlarni tergov qilish</a:t>
            </a:r>
            <a:endParaRPr lang="en-US" sz="1250" dirty="0"/>
          </a:p>
        </p:txBody>
      </p:sp>
      <p:sp>
        <p:nvSpPr>
          <p:cNvPr id="30" name="Text 25"/>
          <p:cNvSpPr txBox="1"/>
          <p:nvPr/>
        </p:nvSpPr>
        <p:spPr>
          <a:xfrm>
            <a:off x="4981651" y="3783330"/>
            <a:ext cx="2613355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Hodisalar xronologiyasi, jarayonlar, fayllar va buzg‘unchi harakatlari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4597603" y="42748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27"/>
          <p:cNvSpPr txBox="1"/>
          <p:nvPr/>
        </p:nvSpPr>
        <p:spPr>
          <a:xfrm>
            <a:off x="4981651" y="4274820"/>
            <a:ext cx="2613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Tahdidlarga javob</a:t>
            </a:r>
            <a:endParaRPr lang="en-US" sz="1250" dirty="0"/>
          </a:p>
        </p:txBody>
      </p:sp>
      <p:sp>
        <p:nvSpPr>
          <p:cNvPr id="33" name="Text 28"/>
          <p:cNvSpPr txBox="1"/>
          <p:nvPr/>
        </p:nvSpPr>
        <p:spPr>
          <a:xfrm>
            <a:off x="4981651" y="4549140"/>
            <a:ext cx="2613355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Qurilmani izolyatsiya qilish, jarayonlarni to‘xtatish, fayllarni karantin</a:t>
            </a:r>
            <a:endParaRPr lang="en-US" sz="1000" dirty="0"/>
          </a:p>
        </p:txBody>
      </p:sp>
      <p:sp>
        <p:nvSpPr>
          <p:cNvPr id="34" name="Text 29"/>
          <p:cNvSpPr txBox="1"/>
          <p:nvPr/>
        </p:nvSpPr>
        <p:spPr>
          <a:xfrm>
            <a:off x="4597603" y="504063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35" name="Text 30"/>
          <p:cNvSpPr txBox="1"/>
          <p:nvPr/>
        </p:nvSpPr>
        <p:spPr>
          <a:xfrm>
            <a:off x="4981651" y="5040630"/>
            <a:ext cx="2613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va hisobot</a:t>
            </a:r>
            <a:endParaRPr lang="en-US" sz="1250" dirty="0"/>
          </a:p>
        </p:txBody>
      </p:sp>
      <p:sp>
        <p:nvSpPr>
          <p:cNvPr id="36" name="Text 31"/>
          <p:cNvSpPr txBox="1"/>
          <p:nvPr/>
        </p:nvSpPr>
        <p:spPr>
          <a:xfrm>
            <a:off x="4981651" y="5314950"/>
            <a:ext cx="2613355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Insidentlar, ogohlantirishlar, statistika va natijalar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4597603" y="2743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4981651" y="2743200"/>
            <a:ext cx="2613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Tahlil va korrelyatsiya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4981651" y="3017520"/>
            <a:ext cx="2613355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Alohida hodisalarni yagona hujum manzarasiga bog‘laydi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8097926" y="1691640"/>
            <a:ext cx="3546043" cy="4389120"/>
          </a:xfrm>
          <a:prstGeom prst="roundRect">
            <a:avLst>
              <a:gd name="adj" fmla="val 3610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8372246" y="1965960"/>
            <a:ext cx="457200" cy="45720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2830" y="2066544"/>
            <a:ext cx="256032" cy="256032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8994038" y="1965960"/>
            <a:ext cx="23756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Administratsiya va o‘zaro aloqa</a:t>
            </a:r>
            <a:endParaRPr lang="en-US" sz="1300" dirty="0"/>
          </a:p>
        </p:txBody>
      </p:sp>
      <p:sp>
        <p:nvSpPr>
          <p:cNvPr id="41" name="Shape 35"/>
          <p:cNvSpPr/>
          <p:nvPr/>
        </p:nvSpPr>
        <p:spPr>
          <a:xfrm>
            <a:off x="8372246" y="2606040"/>
            <a:ext cx="2997403" cy="914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8372246" y="2743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00" dirty="0"/>
          </a:p>
        </p:txBody>
      </p:sp>
      <p:sp>
        <p:nvSpPr>
          <p:cNvPr id="43" name="Text 37"/>
          <p:cNvSpPr txBox="1"/>
          <p:nvPr/>
        </p:nvSpPr>
        <p:spPr>
          <a:xfrm>
            <a:off x="8756294" y="2743200"/>
            <a:ext cx="2613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Integratsiyalar</a:t>
            </a:r>
            <a:endParaRPr lang="en-US" sz="1250" dirty="0"/>
          </a:p>
        </p:txBody>
      </p:sp>
      <p:sp>
        <p:nvSpPr>
          <p:cNvPr id="44" name="Text 38"/>
          <p:cNvSpPr txBox="1"/>
          <p:nvPr/>
        </p:nvSpPr>
        <p:spPr>
          <a:xfrm>
            <a:off x="8756294" y="3017520"/>
            <a:ext cx="2613355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SIEM, SOAR, ITSM va foydalanuvchi kataloglari bilan ma’lumot almashinuvi</a:t>
            </a:r>
            <a:endParaRPr lang="en-US" sz="1000" dirty="0"/>
          </a:p>
        </p:txBody>
      </p:sp>
      <p:sp>
        <p:nvSpPr>
          <p:cNvPr id="45" name="Text 39"/>
          <p:cNvSpPr txBox="1"/>
          <p:nvPr/>
        </p:nvSpPr>
        <p:spPr>
          <a:xfrm>
            <a:off x="8372246" y="350901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00" dirty="0"/>
          </a:p>
        </p:txBody>
      </p:sp>
      <p:sp>
        <p:nvSpPr>
          <p:cNvPr id="46" name="Text 40"/>
          <p:cNvSpPr txBox="1"/>
          <p:nvPr/>
        </p:nvSpPr>
        <p:spPr>
          <a:xfrm>
            <a:off x="8756294" y="3509010"/>
            <a:ext cx="2613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Kirish nazorati</a:t>
            </a:r>
            <a:endParaRPr lang="en-US" sz="1250" dirty="0"/>
          </a:p>
        </p:txBody>
      </p:sp>
      <p:sp>
        <p:nvSpPr>
          <p:cNvPr id="47" name="Text 41"/>
          <p:cNvSpPr txBox="1"/>
          <p:nvPr/>
        </p:nvSpPr>
        <p:spPr>
          <a:xfrm>
            <a:off x="8756294" y="3783330"/>
            <a:ext cx="2613355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Rollar, foydalanuvchi huquqlari, xavfsizlik siyosatlari, harakatlar auditi</a:t>
            </a:r>
            <a:endParaRPr lang="en-US" sz="1000" dirty="0"/>
          </a:p>
        </p:txBody>
      </p:sp>
      <p:sp>
        <p:nvSpPr>
          <p:cNvPr id="48" name="Text 42"/>
          <p:cNvSpPr txBox="1"/>
          <p:nvPr/>
        </p:nvSpPr>
        <p:spPr>
          <a:xfrm>
            <a:off x="8372246" y="42748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9" name="Text 43"/>
          <p:cNvSpPr txBox="1"/>
          <p:nvPr/>
        </p:nvSpPr>
        <p:spPr>
          <a:xfrm>
            <a:off x="8756294" y="4274820"/>
            <a:ext cx="2613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Markazlashgan boshqaruv</a:t>
            </a:r>
            <a:endParaRPr lang="en-US" sz="1250" dirty="0"/>
          </a:p>
        </p:txBody>
      </p:sp>
      <p:sp>
        <p:nvSpPr>
          <p:cNvPr id="50" name="Text 44"/>
          <p:cNvSpPr txBox="1"/>
          <p:nvPr/>
        </p:nvSpPr>
        <p:spPr>
          <a:xfrm>
            <a:off x="8756294" y="4549140"/>
            <a:ext cx="2613355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Siyosatlarni sozlash, agentlarni boshqarish, qurilmalar holati</a:t>
            </a:r>
            <a:endParaRPr lang="en-US" sz="10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30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300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 ARXITEKTURASI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EDR ning </a:t>
            </a:r>
            <a:r>
              <a:rPr lang="en-US" sz="30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 arxitekturasidagi o‘rni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093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en-US" sz="9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14    EDR</a:t>
            </a:r>
            <a:endParaRPr lang="en-US" sz="900" dirty="0"/>
          </a:p>
        </p:txBody>
      </p:sp>
      <p:pic>
        <p:nvPicPr>
          <p:cNvPr id="5" name="Image 0" descr="/home/claude/assets/identity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6365" y="6309360"/>
            <a:ext cx="896690" cy="2926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7314139" cy="438912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pic>
        <p:nvPicPr>
          <p:cNvPr id="7" name="Image 1" descr="/home/claude/out/edr/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783080"/>
            <a:ext cx="7131259" cy="42062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091379" y="1691640"/>
            <a:ext cx="3552590" cy="1310640"/>
          </a:xfrm>
          <a:prstGeom prst="roundRect">
            <a:avLst>
              <a:gd name="adj" fmla="val 9767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319979" y="2136648"/>
            <a:ext cx="420624" cy="42062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517" y="2229185"/>
            <a:ext cx="235549" cy="235549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941771" y="2017776"/>
            <a:ext cx="25010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Perimetr va tarmoq</a:t>
            </a:r>
            <a:endParaRPr lang="en-US" sz="1250" dirty="0"/>
          </a:p>
        </p:txBody>
      </p:sp>
      <p:sp>
        <p:nvSpPr>
          <p:cNvPr id="12" name="Text 7"/>
          <p:cNvSpPr txBox="1"/>
          <p:nvPr/>
        </p:nvSpPr>
        <p:spPr>
          <a:xfrm>
            <a:off x="8941771" y="2346960"/>
            <a:ext cx="2501030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NGFW, WAF, IPS/IDS tarmoqni himoya qiladi — lekin qurilmada nima bo‘layotganini ko‘rmaydi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8091379" y="3230880"/>
            <a:ext cx="3552590" cy="1310640"/>
          </a:xfrm>
          <a:prstGeom prst="roundRect">
            <a:avLst>
              <a:gd name="adj" fmla="val 9767"/>
            </a:avLst>
          </a:prstGeom>
          <a:solidFill>
            <a:srgbClr val="0C3552">
              <a:alpha val="72000"/>
            </a:srgbClr>
          </a:solidFill>
          <a:ln w="9525">
            <a:solidFill>
              <a:srgbClr val="4FD1FF">
                <a:alpha val="6500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8319979" y="3675888"/>
            <a:ext cx="420624" cy="420624"/>
          </a:xfrm>
          <a:prstGeom prst="ellipse">
            <a:avLst/>
          </a:prstGeom>
          <a:solidFill>
            <a:srgbClr val="FF6B76">
              <a:alpha val="14000"/>
            </a:srgbClr>
          </a:solidFill>
          <a:ln w="9525">
            <a:solidFill>
              <a:srgbClr val="FF6B76">
                <a:alpha val="40000"/>
              </a:srgbClr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517" y="3768425"/>
            <a:ext cx="235549" cy="235549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941771" y="3557016"/>
            <a:ext cx="25010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EDR — oxirgi qurilmalar</a:t>
            </a:r>
            <a:endParaRPr lang="en-US" sz="1250" dirty="0"/>
          </a:p>
        </p:txBody>
      </p:sp>
      <p:sp>
        <p:nvSpPr>
          <p:cNvPr id="17" name="Text 11"/>
          <p:cNvSpPr txBox="1"/>
          <p:nvPr/>
        </p:nvSpPr>
        <p:spPr>
          <a:xfrm>
            <a:off x="8941771" y="3886200"/>
            <a:ext cx="2501030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Agent, platforma va konsol: har bir qurilmada ko‘rinuvchanlik va javob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8091379" y="4770120"/>
            <a:ext cx="3552590" cy="1310640"/>
          </a:xfrm>
          <a:prstGeom prst="roundRect">
            <a:avLst>
              <a:gd name="adj" fmla="val 9767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8319979" y="5215128"/>
            <a:ext cx="420624" cy="42062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517" y="5307665"/>
            <a:ext cx="235549" cy="235549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941771" y="5096256"/>
            <a:ext cx="25010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va integratsiyalar</a:t>
            </a:r>
            <a:endParaRPr lang="en-US" sz="1250" dirty="0"/>
          </a:p>
        </p:txBody>
      </p:sp>
      <p:sp>
        <p:nvSpPr>
          <p:cNvPr id="22" name="Text 15"/>
          <p:cNvSpPr txBox="1"/>
          <p:nvPr/>
        </p:nvSpPr>
        <p:spPr>
          <a:xfrm>
            <a:off x="8941771" y="5425440"/>
            <a:ext cx="2501030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SIEM, SOAR, ITSM, Active Directory, DLP — yagona kontur</a:t>
            </a:r>
            <a:endParaRPr lang="en-US" sz="105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30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MISOL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Hujum va </a:t>
            </a:r>
            <a:r>
              <a:rPr lang="en-US" sz="30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himoya stsenariysi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093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r>
              <a:rPr lang="en-US" sz="9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14    EDR</a:t>
            </a:r>
            <a:endParaRPr lang="en-US" sz="900" dirty="0"/>
          </a:p>
        </p:txBody>
      </p:sp>
      <p:pic>
        <p:nvPicPr>
          <p:cNvPr id="5" name="Image 0" descr="/home/claude/assets/identity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6365" y="6309360"/>
            <a:ext cx="896690" cy="2926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7236324" cy="438912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pic>
        <p:nvPicPr>
          <p:cNvPr id="7" name="Image 1" descr="/home/claude/out/edr/sc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783080"/>
            <a:ext cx="7053444" cy="42062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013564" y="1691640"/>
            <a:ext cx="3630406" cy="4389120"/>
          </a:xfrm>
          <a:prstGeom prst="roundRect">
            <a:avLst>
              <a:gd name="adj" fmla="val 3526"/>
            </a:avLst>
          </a:prstGeom>
          <a:solidFill>
            <a:srgbClr val="0C3552">
              <a:alpha val="72000"/>
            </a:srgbClr>
          </a:solidFill>
          <a:ln w="9525">
            <a:solidFill>
              <a:srgbClr val="4FD1FF">
                <a:alpha val="6500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287884" y="1965960"/>
            <a:ext cx="30817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F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NATIJA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7884" y="2459736"/>
            <a:ext cx="310896" cy="31089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745084" y="2423160"/>
            <a:ext cx="262456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Tahdidni aniqlash va lokalizatsiya qilish vaqti qisqaradi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7884" y="3328416"/>
            <a:ext cx="310896" cy="310896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745084" y="3291840"/>
            <a:ext cx="262456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Hujumning infratuzilma bo‘ylab tarqalishi cheklanadi</a:t>
            </a:r>
            <a:endParaRPr lang="en-US" sz="11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7884" y="4197096"/>
            <a:ext cx="310896" cy="310896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8745084" y="4160520"/>
            <a:ext cx="262456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Maxfiy ma’lumotlar saqlanib qoladi</a:t>
            </a:r>
            <a:endParaRPr lang="en-US" sz="11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87884" y="5065776"/>
            <a:ext cx="310896" cy="310896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8745084" y="5029200"/>
            <a:ext cx="262456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Insidentning to‘liq manzarasi va dalillar bazasi</a:t>
            </a:r>
            <a:endParaRPr lang="en-US" sz="115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30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IMKONIYATLAR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Funksional </a:t>
            </a:r>
            <a:r>
              <a:rPr lang="en-US" sz="30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imkoniyatlar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093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r>
              <a:rPr lang="en-US" sz="9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14    EDR</a:t>
            </a:r>
            <a:endParaRPr lang="en-US" sz="900" dirty="0"/>
          </a:p>
        </p:txBody>
      </p:sp>
      <p:pic>
        <p:nvPicPr>
          <p:cNvPr id="5" name="Image 0" descr="/home/claude/assets/identity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6365" y="6309360"/>
            <a:ext cx="896690" cy="2926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2602382" cy="2080260"/>
          </a:xfrm>
          <a:prstGeom prst="roundRect">
            <a:avLst>
              <a:gd name="adj" fmla="val 615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965960"/>
            <a:ext cx="512064" cy="51206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614" y="2078614"/>
            <a:ext cx="286756" cy="2867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2960" y="2651760"/>
            <a:ext cx="20537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Doimiy monitoring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227832"/>
            <a:ext cx="205374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Oxirgi qurilmalarni uzluksiz nazorat qilish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3379622" y="1691640"/>
            <a:ext cx="2602382" cy="2080260"/>
          </a:xfrm>
          <a:prstGeom prst="roundRect">
            <a:avLst>
              <a:gd name="adj" fmla="val 615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653942" y="1965960"/>
            <a:ext cx="512064" cy="51206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6596" y="2078614"/>
            <a:ext cx="286756" cy="2867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653942" y="2651760"/>
            <a:ext cx="20537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Tahdidlarni aniqlash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3653942" y="3227832"/>
            <a:ext cx="205374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 jumladan fayldan foydalanmaydigan hujumlar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210605" y="1691640"/>
            <a:ext cx="2602382" cy="2080260"/>
          </a:xfrm>
          <a:prstGeom prst="roundRect">
            <a:avLst>
              <a:gd name="adj" fmla="val 615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84925" y="1965960"/>
            <a:ext cx="512064" cy="51206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7579" y="2078614"/>
            <a:ext cx="286756" cy="28675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484925" y="2651760"/>
            <a:ext cx="20537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Hujum zanjiri tahlili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6484925" y="3227832"/>
            <a:ext cx="205374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Hodisalar yagona manzaraga bog‘lanadi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9041587" y="1691640"/>
            <a:ext cx="2602382" cy="2080260"/>
          </a:xfrm>
          <a:prstGeom prst="roundRect">
            <a:avLst>
              <a:gd name="adj" fmla="val 615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9315907" y="1965960"/>
            <a:ext cx="512064" cy="51206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8561" y="2078614"/>
            <a:ext cx="286756" cy="28675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315907" y="2651760"/>
            <a:ext cx="20537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Tergov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9315907" y="3227832"/>
            <a:ext cx="205374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Insident xronologiyasi va asosiy sababi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548640" y="4000500"/>
            <a:ext cx="2602382" cy="2080260"/>
          </a:xfrm>
          <a:prstGeom prst="roundRect">
            <a:avLst>
              <a:gd name="adj" fmla="val 6154"/>
            </a:avLst>
          </a:prstGeom>
          <a:solidFill>
            <a:srgbClr val="0C3552">
              <a:alpha val="72000"/>
            </a:srgbClr>
          </a:solidFill>
          <a:ln w="9525">
            <a:solidFill>
              <a:srgbClr val="4FD1FF">
                <a:alpha val="65000"/>
              </a:srgbClr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822960" y="4274820"/>
            <a:ext cx="512064" cy="51206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5614" y="4387474"/>
            <a:ext cx="286756" cy="286756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822960" y="4960620"/>
            <a:ext cx="20537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Javob berish</a:t>
            </a:r>
            <a:endParaRPr lang="en-US" sz="1400" dirty="0"/>
          </a:p>
        </p:txBody>
      </p:sp>
      <p:sp>
        <p:nvSpPr>
          <p:cNvPr id="30" name="Text 22"/>
          <p:cNvSpPr txBox="1"/>
          <p:nvPr/>
        </p:nvSpPr>
        <p:spPr>
          <a:xfrm>
            <a:off x="822960" y="5536692"/>
            <a:ext cx="205374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Qurilmalarni izolyatsiya qilish va jarayonlarni to‘xtatish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3379622" y="4000500"/>
            <a:ext cx="2602382" cy="2080260"/>
          </a:xfrm>
          <a:prstGeom prst="roundRect">
            <a:avLst>
              <a:gd name="adj" fmla="val 615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3653942" y="4274820"/>
            <a:ext cx="512064" cy="51206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66596" y="4387474"/>
            <a:ext cx="286756" cy="286756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3653942" y="4960620"/>
            <a:ext cx="20537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Markazlashgan boshqaruv</a:t>
            </a:r>
            <a:endParaRPr lang="en-US" sz="1400" dirty="0"/>
          </a:p>
        </p:txBody>
      </p:sp>
      <p:sp>
        <p:nvSpPr>
          <p:cNvPr id="35" name="Text 26"/>
          <p:cNvSpPr txBox="1"/>
          <p:nvPr/>
        </p:nvSpPr>
        <p:spPr>
          <a:xfrm>
            <a:off x="3653942" y="5536692"/>
            <a:ext cx="205374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Siyosatlar va agentlar yagona konsoldan</a:t>
            </a:r>
            <a:endParaRPr lang="en-US" sz="1150" dirty="0"/>
          </a:p>
        </p:txBody>
      </p:sp>
      <p:sp>
        <p:nvSpPr>
          <p:cNvPr id="36" name="Shape 27"/>
          <p:cNvSpPr/>
          <p:nvPr/>
        </p:nvSpPr>
        <p:spPr>
          <a:xfrm>
            <a:off x="6210605" y="4000500"/>
            <a:ext cx="2602382" cy="2080260"/>
          </a:xfrm>
          <a:prstGeom prst="roundRect">
            <a:avLst>
              <a:gd name="adj" fmla="val 615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6484925" y="4274820"/>
            <a:ext cx="512064" cy="51206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97579" y="4387474"/>
            <a:ext cx="286756" cy="286756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6484925" y="4960620"/>
            <a:ext cx="20537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Integratsiya</a:t>
            </a:r>
            <a:endParaRPr lang="en-US" sz="1400" dirty="0"/>
          </a:p>
        </p:txBody>
      </p:sp>
      <p:sp>
        <p:nvSpPr>
          <p:cNvPr id="40" name="Text 30"/>
          <p:cNvSpPr txBox="1"/>
          <p:nvPr/>
        </p:nvSpPr>
        <p:spPr>
          <a:xfrm>
            <a:off x="6484925" y="5536692"/>
            <a:ext cx="205374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Boshqa AX tizimlari bilan ma’lumot almashinuvi</a:t>
            </a:r>
            <a:endParaRPr lang="en-US" sz="1150" dirty="0"/>
          </a:p>
        </p:txBody>
      </p:sp>
      <p:sp>
        <p:nvSpPr>
          <p:cNvPr id="41" name="Shape 31"/>
          <p:cNvSpPr/>
          <p:nvPr/>
        </p:nvSpPr>
        <p:spPr>
          <a:xfrm>
            <a:off x="9041587" y="4000500"/>
            <a:ext cx="2602382" cy="2080260"/>
          </a:xfrm>
          <a:prstGeom prst="roundRect">
            <a:avLst>
              <a:gd name="adj" fmla="val 615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2" name="Shape 32"/>
          <p:cNvSpPr/>
          <p:nvPr/>
        </p:nvSpPr>
        <p:spPr>
          <a:xfrm>
            <a:off x="9315907" y="4274820"/>
            <a:ext cx="512064" cy="51206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28561" y="4387474"/>
            <a:ext cx="286756" cy="286756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9315907" y="4960620"/>
            <a:ext cx="20537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Ogohlantirish va hisobotlar</a:t>
            </a:r>
            <a:endParaRPr lang="en-US" sz="1400" dirty="0"/>
          </a:p>
        </p:txBody>
      </p:sp>
      <p:sp>
        <p:nvSpPr>
          <p:cNvPr id="45" name="Text 34"/>
          <p:cNvSpPr txBox="1"/>
          <p:nvPr/>
        </p:nvSpPr>
        <p:spPr>
          <a:xfrm>
            <a:off x="9315907" y="5536692"/>
            <a:ext cx="205374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Xabarnomalar va insidentlar bo‘yicha hisobot</a:t>
            </a:r>
            <a:endParaRPr lang="en-US" sz="115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30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30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ASOSIY JIHATLAR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Aniqlash, javob berish, </a:t>
            </a:r>
            <a:r>
              <a:rPr lang="en-US" sz="30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boshqaruvchanlik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093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r>
              <a:rPr lang="en-US" sz="9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14    EDR</a:t>
            </a:r>
            <a:endParaRPr lang="en-US" sz="900" dirty="0"/>
          </a:p>
        </p:txBody>
      </p:sp>
      <p:pic>
        <p:nvPicPr>
          <p:cNvPr id="5" name="Image 0" descr="/home/claude/assets/identity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6365" y="6309360"/>
            <a:ext cx="896690" cy="2926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3546043" cy="4389120"/>
          </a:xfrm>
          <a:prstGeom prst="roundRect">
            <a:avLst>
              <a:gd name="adj" fmla="val 3610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965960"/>
            <a:ext cx="512064" cy="512064"/>
          </a:xfrm>
          <a:prstGeom prst="ellipse">
            <a:avLst/>
          </a:prstGeom>
          <a:solidFill>
            <a:srgbClr val="FF6B76">
              <a:alpha val="14000"/>
            </a:srgbClr>
          </a:solidFill>
          <a:ln w="9525">
            <a:solidFill>
              <a:srgbClr val="FF6B76">
                <a:alpha val="40000"/>
              </a:srgbClr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614" y="2078614"/>
            <a:ext cx="286756" cy="2867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2960" y="2651760"/>
            <a:ext cx="299740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Yangi turdagi hujumlarni aniqlash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822960" y="3337560"/>
            <a:ext cx="2997403" cy="914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2960" y="3474720"/>
            <a:ext cx="2997403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Fayldan foydalanmaydigan hujumlar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Shifrlovchi-tovlamachi dasturlar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Zaifliklardan foydalanish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Qonuniy vositalar yordamidagi hujumlar (PowerShell va boshqalar)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Hisob ma’lumotlarini o‘g‘irlashga urinishlar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Tizimda mustahkamlanish va tarmoq bo‘ylab harakatlanish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323283" y="1691640"/>
            <a:ext cx="3546043" cy="4389120"/>
          </a:xfrm>
          <a:prstGeom prst="roundRect">
            <a:avLst>
              <a:gd name="adj" fmla="val 3610"/>
            </a:avLst>
          </a:prstGeom>
          <a:solidFill>
            <a:srgbClr val="0C3552">
              <a:alpha val="72000"/>
            </a:srgbClr>
          </a:solidFill>
          <a:ln w="9525">
            <a:solidFill>
              <a:srgbClr val="4FD1FF">
                <a:alpha val="65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97603" y="1965960"/>
            <a:ext cx="512064" cy="51206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0257" y="2078614"/>
            <a:ext cx="286756" cy="2867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597603" y="2651760"/>
            <a:ext cx="299740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Avtomatik rejimda javob berish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4597603" y="3337560"/>
            <a:ext cx="2997403" cy="914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4597603" y="3474720"/>
            <a:ext cx="2997403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Shubhali jarayonni to‘xtatish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Shubhali faylni karantinga joylash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Zararli fayllarning ishga tushishini bloklash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Qurilmani tarmoqdan izolyatsiya qilish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Oldindan sozlangan stsenariylarni ishga tushirish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097926" y="1691640"/>
            <a:ext cx="3546043" cy="4389120"/>
          </a:xfrm>
          <a:prstGeom prst="roundRect">
            <a:avLst>
              <a:gd name="adj" fmla="val 3610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372246" y="1965960"/>
            <a:ext cx="512064" cy="51206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4900" y="2078614"/>
            <a:ext cx="286756" cy="28675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372246" y="2651760"/>
            <a:ext cx="299740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Boshqaruvchanlik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8372246" y="3337560"/>
            <a:ext cx="2997403" cy="914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8372246" y="3474720"/>
            <a:ext cx="2997403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Oxirgi qurilmalardagi agentlar nazorati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Xavfsizlik siyosatlari nazorati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Hodisalar va insidentlar nazorati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Administratorlar harakatlari nazorati</a:t>
            </a:r>
            <a:endParaRPr lang="en-US" sz="12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30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AMALIYOT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Tahdidlar va </a:t>
            </a:r>
            <a:r>
              <a:rPr lang="en-US" sz="30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qarshi choralar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093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r>
              <a:rPr lang="en-US" sz="9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14    EDR</a:t>
            </a:r>
            <a:endParaRPr lang="en-US" sz="900" dirty="0"/>
          </a:p>
        </p:txBody>
      </p:sp>
      <p:pic>
        <p:nvPicPr>
          <p:cNvPr id="5" name="Image 0" descr="/home/claude/assets/identity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6365" y="6309360"/>
            <a:ext cx="896690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16916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F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TAHDID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4069080" y="16916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EDR IMKONIYATI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8275320" y="1691640"/>
            <a:ext cx="36429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7CF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NATIJA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2167128"/>
            <a:ext cx="11095330" cy="806958"/>
          </a:xfrm>
          <a:prstGeom prst="roundRect">
            <a:avLst>
              <a:gd name="adj" fmla="val 15864"/>
            </a:avLst>
          </a:prstGeom>
          <a:solidFill>
            <a:srgbClr val="0C3552">
              <a:alpha val="72000"/>
            </a:srgbClr>
          </a:solidFill>
          <a:ln w="9525">
            <a:solidFill>
              <a:srgbClr val="4FD1FF">
                <a:alpha val="65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2351151"/>
            <a:ext cx="438912" cy="438912"/>
          </a:xfrm>
          <a:prstGeom prst="ellipse">
            <a:avLst/>
          </a:prstGeom>
          <a:solidFill>
            <a:srgbClr val="FF6B76">
              <a:alpha val="14000"/>
            </a:srgbClr>
          </a:solidFill>
          <a:ln w="9525">
            <a:solidFill>
              <a:srgbClr val="FF6B76">
                <a:alpha val="40000"/>
              </a:srgbClr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521" y="2447712"/>
            <a:ext cx="245791" cy="24579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26464" y="2167128"/>
            <a:ext cx="2514600" cy="806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Ransomware ishga tushishi</a:t>
            </a:r>
            <a:endParaRPr lang="en-US" sz="13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5032" y="2470023"/>
            <a:ext cx="201168" cy="20116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069080" y="2167128"/>
            <a:ext cx="3703320" cy="806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Shubhali xatti-harakatni aniqlash, bloklash yoki izolyatsiya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1272" y="2470023"/>
            <a:ext cx="201168" cy="201168"/>
          </a:xfrm>
          <a:prstGeom prst="rect">
            <a:avLst/>
          </a:prstGeom>
        </p:spPr>
      </p:pic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320" y="2433447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659368" y="2167128"/>
            <a:ext cx="2728570" cy="806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Mumkin bo‘lgan zarar kamayadi</a:t>
            </a:r>
            <a:endParaRPr lang="en-US" sz="1250" dirty="0"/>
          </a:p>
        </p:txBody>
      </p:sp>
      <p:sp>
        <p:nvSpPr>
          <p:cNvPr id="18" name="Shape 11"/>
          <p:cNvSpPr/>
          <p:nvPr/>
        </p:nvSpPr>
        <p:spPr>
          <a:xfrm>
            <a:off x="548640" y="3202686"/>
            <a:ext cx="11095330" cy="806958"/>
          </a:xfrm>
          <a:prstGeom prst="roundRect">
            <a:avLst>
              <a:gd name="adj" fmla="val 1586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822960" y="3386709"/>
            <a:ext cx="438912" cy="438912"/>
          </a:xfrm>
          <a:prstGeom prst="ellipse">
            <a:avLst/>
          </a:prstGeom>
          <a:solidFill>
            <a:srgbClr val="FF6B76">
              <a:alpha val="14000"/>
            </a:srgbClr>
          </a:solidFill>
          <a:ln w="9525">
            <a:solidFill>
              <a:srgbClr val="FF6B76">
                <a:alpha val="40000"/>
              </a:srgbClr>
            </a:solidFill>
            <a:prstDash val="solid"/>
          </a:ln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9521" y="3483270"/>
            <a:ext cx="245791" cy="245791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426464" y="3202686"/>
            <a:ext cx="2514600" cy="806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Hujum uchun PowerShell’dan foydalanish</a:t>
            </a:r>
            <a:endParaRPr lang="en-US" sz="13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5032" y="3505581"/>
            <a:ext cx="201168" cy="201168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4069080" y="3202686"/>
            <a:ext cx="3703320" cy="806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Jarayonlar va buyruqlar zanjiri tahlili</a:t>
            </a:r>
            <a:endParaRPr lang="en-US" sz="12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1272" y="3505581"/>
            <a:ext cx="201168" cy="201168"/>
          </a:xfrm>
          <a:prstGeom prst="rect">
            <a:avLst/>
          </a:prstGeom>
        </p:spPr>
      </p:pic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320" y="3469005"/>
            <a:ext cx="274320" cy="274320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8659368" y="3202686"/>
            <a:ext cx="2728570" cy="806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Shubhali faoliyat aniqlanadi</a:t>
            </a:r>
            <a:endParaRPr lang="en-US" sz="1250" dirty="0"/>
          </a:p>
        </p:txBody>
      </p:sp>
      <p:sp>
        <p:nvSpPr>
          <p:cNvPr id="27" name="Shape 16"/>
          <p:cNvSpPr/>
          <p:nvPr/>
        </p:nvSpPr>
        <p:spPr>
          <a:xfrm>
            <a:off x="548640" y="4238244"/>
            <a:ext cx="11095330" cy="806958"/>
          </a:xfrm>
          <a:prstGeom prst="roundRect">
            <a:avLst>
              <a:gd name="adj" fmla="val 1586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8" name="Shape 17"/>
          <p:cNvSpPr/>
          <p:nvPr/>
        </p:nvSpPr>
        <p:spPr>
          <a:xfrm>
            <a:off x="822960" y="4422267"/>
            <a:ext cx="438912" cy="438912"/>
          </a:xfrm>
          <a:prstGeom prst="ellipse">
            <a:avLst/>
          </a:prstGeom>
          <a:solidFill>
            <a:srgbClr val="FF6B76">
              <a:alpha val="14000"/>
            </a:srgbClr>
          </a:solidFill>
          <a:ln w="9525">
            <a:solidFill>
              <a:srgbClr val="FF6B76">
                <a:alpha val="40000"/>
              </a:srgbClr>
            </a:solidFill>
            <a:prstDash val="solid"/>
          </a:ln>
        </p:spPr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9521" y="4518828"/>
            <a:ext cx="245791" cy="245791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1426464" y="4238244"/>
            <a:ext cx="2514600" cy="806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 stansiyasining komprometatsiyasi</a:t>
            </a:r>
            <a:endParaRPr lang="en-US" sz="1300" dirty="0"/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5032" y="4541139"/>
            <a:ext cx="201168" cy="201168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4069080" y="4238244"/>
            <a:ext cx="3703320" cy="806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Hodisalarni tergov qilish va qurilmani izolyatsiya qilish</a:t>
            </a:r>
            <a:endParaRPr lang="en-US" sz="1200" dirty="0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1272" y="4541139"/>
            <a:ext cx="201168" cy="201168"/>
          </a:xfrm>
          <a:prstGeom prst="rect">
            <a:avLst/>
          </a:prstGeom>
        </p:spPr>
      </p:pic>
      <p:pic>
        <p:nvPicPr>
          <p:cNvPr id="34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320" y="4504563"/>
            <a:ext cx="274320" cy="274320"/>
          </a:xfrm>
          <a:prstGeom prst="rect">
            <a:avLst/>
          </a:prstGeom>
        </p:spPr>
      </p:pic>
      <p:sp>
        <p:nvSpPr>
          <p:cNvPr id="35" name="Text 20"/>
          <p:cNvSpPr txBox="1"/>
          <p:nvPr/>
        </p:nvSpPr>
        <p:spPr>
          <a:xfrm>
            <a:off x="8659368" y="4238244"/>
            <a:ext cx="2728570" cy="806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Hujumning tarqalishi cheklanadi</a:t>
            </a:r>
            <a:endParaRPr lang="en-US" sz="1250" dirty="0"/>
          </a:p>
        </p:txBody>
      </p:sp>
      <p:sp>
        <p:nvSpPr>
          <p:cNvPr id="36" name="Shape 21"/>
          <p:cNvSpPr/>
          <p:nvPr/>
        </p:nvSpPr>
        <p:spPr>
          <a:xfrm>
            <a:off x="548640" y="5273802"/>
            <a:ext cx="11095330" cy="806958"/>
          </a:xfrm>
          <a:prstGeom prst="roundRect">
            <a:avLst>
              <a:gd name="adj" fmla="val 1586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7" name="Shape 22"/>
          <p:cNvSpPr/>
          <p:nvPr/>
        </p:nvSpPr>
        <p:spPr>
          <a:xfrm>
            <a:off x="822960" y="5457825"/>
            <a:ext cx="438912" cy="438912"/>
          </a:xfrm>
          <a:prstGeom prst="ellipse">
            <a:avLst/>
          </a:prstGeom>
          <a:solidFill>
            <a:srgbClr val="FF6B76">
              <a:alpha val="14000"/>
            </a:srgbClr>
          </a:solidFill>
          <a:ln w="9525">
            <a:solidFill>
              <a:srgbClr val="FF6B76">
                <a:alpha val="40000"/>
              </a:srgbClr>
            </a:solidFill>
            <a:prstDash val="solid"/>
          </a:ln>
        </p:spPr>
      </p:sp>
      <p:pic>
        <p:nvPicPr>
          <p:cNvPr id="38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9521" y="5554386"/>
            <a:ext cx="245791" cy="245791"/>
          </a:xfrm>
          <a:prstGeom prst="rect">
            <a:avLst/>
          </a:prstGeom>
        </p:spPr>
      </p:pic>
      <p:sp>
        <p:nvSpPr>
          <p:cNvPr id="39" name="Text 23"/>
          <p:cNvSpPr txBox="1"/>
          <p:nvPr/>
        </p:nvSpPr>
        <p:spPr>
          <a:xfrm>
            <a:off x="1426464" y="5273802"/>
            <a:ext cx="2514600" cy="806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Buzg‘unchining uzoq vaqt mavjudligi</a:t>
            </a:r>
            <a:endParaRPr lang="en-US" sz="1300" dirty="0"/>
          </a:p>
        </p:txBody>
      </p:sp>
      <p:pic>
        <p:nvPicPr>
          <p:cNvPr id="40" name="Image 1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5032" y="5576697"/>
            <a:ext cx="201168" cy="201168"/>
          </a:xfrm>
          <a:prstGeom prst="rect">
            <a:avLst/>
          </a:prstGeom>
        </p:spPr>
      </p:pic>
      <p:sp>
        <p:nvSpPr>
          <p:cNvPr id="41" name="Text 24"/>
          <p:cNvSpPr txBox="1"/>
          <p:nvPr/>
        </p:nvSpPr>
        <p:spPr>
          <a:xfrm>
            <a:off x="4069080" y="5273802"/>
            <a:ext cx="3703320" cy="806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Tahdidlarni qidirish va retrospektiv tahlil</a:t>
            </a:r>
            <a:endParaRPr lang="en-US" sz="1200" dirty="0"/>
          </a:p>
        </p:txBody>
      </p:sp>
      <p:pic>
        <p:nvPicPr>
          <p:cNvPr id="42" name="Image 1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1272" y="5576697"/>
            <a:ext cx="201168" cy="201168"/>
          </a:xfrm>
          <a:prstGeom prst="rect">
            <a:avLst/>
          </a:prstGeom>
        </p:spPr>
      </p:pic>
      <p:pic>
        <p:nvPicPr>
          <p:cNvPr id="43" name="Image 1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320" y="5540121"/>
            <a:ext cx="274320" cy="274320"/>
          </a:xfrm>
          <a:prstGeom prst="rect">
            <a:avLst/>
          </a:prstGeom>
        </p:spPr>
      </p:pic>
      <p:sp>
        <p:nvSpPr>
          <p:cNvPr id="44" name="Text 25"/>
          <p:cNvSpPr txBox="1"/>
          <p:nvPr/>
        </p:nvSpPr>
        <p:spPr>
          <a:xfrm>
            <a:off x="8659368" y="5273802"/>
            <a:ext cx="2728570" cy="806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Ilgari sezilmagan faoliyat aniqlanadi</a:t>
            </a:r>
            <a:endParaRPr lang="en-US" sz="125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30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30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QIYMAT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Buyurtmachilar uchun </a:t>
            </a:r>
            <a:r>
              <a:rPr lang="en-US" sz="30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afzalliklar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093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r>
              <a:rPr lang="en-US" sz="9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14    EDR</a:t>
            </a:r>
            <a:endParaRPr lang="en-US" sz="900" dirty="0"/>
          </a:p>
        </p:txBody>
      </p:sp>
      <p:pic>
        <p:nvPicPr>
          <p:cNvPr id="5" name="Image 0" descr="/home/claude/assets/identity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6365" y="6309360"/>
            <a:ext cx="896690" cy="2926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3546043" cy="4389120"/>
          </a:xfrm>
          <a:prstGeom prst="roundRect">
            <a:avLst>
              <a:gd name="adj" fmla="val 3610"/>
            </a:avLst>
          </a:prstGeom>
          <a:solidFill>
            <a:srgbClr val="0C3552">
              <a:alpha val="72000"/>
            </a:srgbClr>
          </a:solidFill>
          <a:ln w="9525">
            <a:solidFill>
              <a:srgbClr val="4FD1FF">
                <a:alpha val="6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965960"/>
            <a:ext cx="29974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MTTD / MTTR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23160"/>
            <a:ext cx="29974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kunlar</a:t>
            </a:r>
            <a:r>
              <a:rPr lang="en-US" sz="25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daqiqalar</a:t>
            </a:r>
            <a:endParaRPr lang="en-US" sz="2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291840"/>
            <a:ext cx="29974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Insidentlarni aniqlash va javob berish vaqti qisqaradi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" y="4160520"/>
            <a:ext cx="2997403" cy="914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4389120"/>
            <a:ext cx="457200" cy="45720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448970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22960" y="4983480"/>
            <a:ext cx="29974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L1/L2 ga yuk kamayadi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" y="5349240"/>
            <a:ext cx="29974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Analitiklarning kundalik ishlari avtomatlashtiriladi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323283" y="1691640"/>
            <a:ext cx="3546043" cy="1310640"/>
          </a:xfrm>
          <a:prstGeom prst="roundRect">
            <a:avLst>
              <a:gd name="adj" fmla="val 9767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51883" y="2118360"/>
            <a:ext cx="457200" cy="45720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2467" y="2218944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210251" y="2017776"/>
            <a:ext cx="24579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Murakkab va maqsadli hujumlar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5210251" y="2346960"/>
            <a:ext cx="2457907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Boshqa vositalar sezmaydigan hujumlarni aniqlash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097926" y="1691640"/>
            <a:ext cx="3546043" cy="1310640"/>
          </a:xfrm>
          <a:prstGeom prst="roundRect">
            <a:avLst>
              <a:gd name="adj" fmla="val 9767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326526" y="2118360"/>
            <a:ext cx="457200" cy="45720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7110" y="2218944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984894" y="2017776"/>
            <a:ext cx="24579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Zarar kamayadi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8984894" y="2346960"/>
            <a:ext cx="2457907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Zararlangan qurilmalar izolyatsiya qilinadi va jarayonlar to‘xtatiladi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323283" y="3230880"/>
            <a:ext cx="3546043" cy="1310640"/>
          </a:xfrm>
          <a:prstGeom prst="roundRect">
            <a:avLst>
              <a:gd name="adj" fmla="val 9767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551883" y="3657600"/>
            <a:ext cx="457200" cy="45720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2467" y="3758184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210251" y="3557016"/>
            <a:ext cx="24579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Moliyaviy va obro‘ bilan bog‘liq xavflar</a:t>
            </a:r>
            <a:endParaRPr lang="en-US" sz="1350" dirty="0"/>
          </a:p>
        </p:txBody>
      </p:sp>
      <p:sp>
        <p:nvSpPr>
          <p:cNvPr id="29" name="Text 22"/>
          <p:cNvSpPr txBox="1"/>
          <p:nvPr/>
        </p:nvSpPr>
        <p:spPr>
          <a:xfrm>
            <a:off x="5210251" y="3886200"/>
            <a:ext cx="2457907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Muvaffaqiyatli hujumlar, jumladan ransomware oqibatlarini minimallashtirish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097926" y="3230880"/>
            <a:ext cx="3546043" cy="1310640"/>
          </a:xfrm>
          <a:prstGeom prst="roundRect">
            <a:avLst>
              <a:gd name="adj" fmla="val 9767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326526" y="3657600"/>
            <a:ext cx="457200" cy="45720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27110" y="3758184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984894" y="3557016"/>
            <a:ext cx="24579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Biznesning uzluksizligi</a:t>
            </a:r>
            <a:endParaRPr lang="en-US" sz="1350" dirty="0"/>
          </a:p>
        </p:txBody>
      </p:sp>
      <p:sp>
        <p:nvSpPr>
          <p:cNvPr id="34" name="Text 26"/>
          <p:cNvSpPr txBox="1"/>
          <p:nvPr/>
        </p:nvSpPr>
        <p:spPr>
          <a:xfrm>
            <a:off x="8984894" y="3886200"/>
            <a:ext cx="2457907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Muhim ish stansiyalari va serverlar to‘xtab qolishdan himoyalanadi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4323283" y="4770120"/>
            <a:ext cx="7320686" cy="1310640"/>
          </a:xfrm>
          <a:prstGeom prst="roundRect">
            <a:avLst>
              <a:gd name="adj" fmla="val 9767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4551883" y="5196840"/>
            <a:ext cx="457200" cy="45720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52467" y="5297424"/>
            <a:ext cx="256032" cy="256032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5210251" y="5096256"/>
            <a:ext cx="62325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Tergovning isbotlanuvchanligi</a:t>
            </a:r>
            <a:endParaRPr lang="en-US" sz="1350" dirty="0"/>
          </a:p>
        </p:txBody>
      </p:sp>
      <p:sp>
        <p:nvSpPr>
          <p:cNvPr id="39" name="Text 30"/>
          <p:cNvSpPr txBox="1"/>
          <p:nvPr/>
        </p:nvSpPr>
        <p:spPr>
          <a:xfrm>
            <a:off x="5210251" y="5425440"/>
            <a:ext cx="6232550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Boshqariladigan jarayon va har bir insidentning to‘liq manzarasi</a:t>
            </a:r>
            <a:endParaRPr lang="en-US" sz="11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30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30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YECHIMLAR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Taklif etilayotgan </a:t>
            </a:r>
            <a:r>
              <a:rPr lang="en-US" sz="30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yechimlar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093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r>
              <a:rPr lang="en-US" sz="9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14    EDR</a:t>
            </a:r>
            <a:endParaRPr lang="en-US" sz="900" dirty="0"/>
          </a:p>
        </p:txBody>
      </p:sp>
      <p:pic>
        <p:nvPicPr>
          <p:cNvPr id="5" name="Image 0" descr="/home/claude/assets/identity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6365" y="6309360"/>
            <a:ext cx="896690" cy="2926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4489704" cy="4389120"/>
          </a:xfrm>
          <a:prstGeom prst="roundRect">
            <a:avLst>
              <a:gd name="adj" fmla="val 2917"/>
            </a:avLst>
          </a:prstGeom>
          <a:solidFill>
            <a:srgbClr val="0C3552">
              <a:alpha val="72000"/>
            </a:srgbClr>
          </a:solidFill>
          <a:ln w="9525">
            <a:solidFill>
              <a:srgbClr val="4FD1FF">
                <a:alpha val="65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661" y="2086661"/>
            <a:ext cx="307238" cy="30723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2960" y="2697480"/>
            <a:ext cx="3941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PLATFORMANI TANLASH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017520"/>
            <a:ext cx="3941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Sizning infratuzilmangiz uchun yetakchi vendorning EDR platformasi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931920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Yechim quyidagilar asosida tanlanadi: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4297680"/>
            <a:ext cx="39410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 stansiyalari va serverlar parki hamda foydalanilayotgan OT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Buyurtmachi serverlarida joylashtirish (on-premise)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SIEM, SOAR, ITSM va Active Directory bilan integratsiya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Regulyator talablari va ichki AX siyosatlari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266944" y="1691640"/>
            <a:ext cx="6377026" cy="1310640"/>
          </a:xfrm>
          <a:prstGeom prst="roundRect">
            <a:avLst>
              <a:gd name="adj" fmla="val 9767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95544" y="2072640"/>
            <a:ext cx="548640" cy="54864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6245" y="219334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45352" y="2017776"/>
            <a:ext cx="51974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loyiha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45352" y="2346960"/>
            <a:ext cx="5197450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Cheklangan guruh qurilmalarda ishga tushirish: samaradorlik real infratuzilmada baholanadi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266944" y="3230880"/>
            <a:ext cx="6377026" cy="1310640"/>
          </a:xfrm>
          <a:prstGeom prst="roundRect">
            <a:avLst>
              <a:gd name="adj" fmla="val 9767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495544" y="3611880"/>
            <a:ext cx="548640" cy="54864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6245" y="373258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245352" y="3557016"/>
            <a:ext cx="51974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Kalit topshirish asosida joriy etish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245352" y="3886200"/>
            <a:ext cx="5197450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Loyihalash, o‘rnatish, javob qoidalari va integratsiyalarni sozlash, o‘qitish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266944" y="4770120"/>
            <a:ext cx="6377026" cy="1310640"/>
          </a:xfrm>
          <a:prstGeom prst="roundRect">
            <a:avLst>
              <a:gd name="adj" fmla="val 9767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495544" y="5151120"/>
            <a:ext cx="548640" cy="54864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6245" y="5271821"/>
            <a:ext cx="307238" cy="30723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245352" y="5096256"/>
            <a:ext cx="51974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Qo‘llab-quvvatlash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6245352" y="5425440"/>
            <a:ext cx="5197450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Texnik yordam, siyosatlarni yangilash va insidentlarni tergov qilishda ko‘mak</a:t>
            </a:r>
            <a:endParaRPr lang="en-US" sz="12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30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JORIY ETISH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Joriy etish </a:t>
            </a:r>
            <a:r>
              <a:rPr lang="en-US" sz="30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bosqichlari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093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r>
              <a:rPr lang="en-US" sz="9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14    EDR</a:t>
            </a:r>
            <a:endParaRPr lang="en-US" sz="900" dirty="0"/>
          </a:p>
        </p:txBody>
      </p:sp>
      <p:pic>
        <p:nvPicPr>
          <p:cNvPr id="5" name="Image 0" descr="/home/claude/assets/identity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6365" y="6309360"/>
            <a:ext cx="896690" cy="2926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2602382" cy="2080260"/>
          </a:xfrm>
          <a:prstGeom prst="roundRect">
            <a:avLst>
              <a:gd name="adj" fmla="val 615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965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419502" y="1965960"/>
            <a:ext cx="457200" cy="45720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0086" y="206654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22960" y="2560320"/>
            <a:ext cx="20537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loyiha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2926080"/>
            <a:ext cx="205374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Tizim qanday ishlashini tushunish</a:t>
            </a:r>
            <a:endParaRPr lang="en-US" sz="11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9310" y="2103120"/>
            <a:ext cx="192024" cy="19202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379622" y="1691640"/>
            <a:ext cx="2602382" cy="2080260"/>
          </a:xfrm>
          <a:prstGeom prst="roundRect">
            <a:avLst>
              <a:gd name="adj" fmla="val 615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3653942" y="1965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Shape 10"/>
          <p:cNvSpPr/>
          <p:nvPr/>
        </p:nvSpPr>
        <p:spPr>
          <a:xfrm>
            <a:off x="5250485" y="1965960"/>
            <a:ext cx="457200" cy="45720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51069" y="2066544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653942" y="2560320"/>
            <a:ext cx="20537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Tekshiruv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3653942" y="2926080"/>
            <a:ext cx="205374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 stansiyalari va serverlar inventarizatsiyasi, mavjud himoya vositalari tahlili</a:t>
            </a:r>
            <a:endParaRPr lang="en-US" sz="11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293" y="2103120"/>
            <a:ext cx="192024" cy="192024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6210605" y="1691640"/>
            <a:ext cx="2602382" cy="2080260"/>
          </a:xfrm>
          <a:prstGeom prst="roundRect">
            <a:avLst>
              <a:gd name="adj" fmla="val 615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6484925" y="1965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Shape 15"/>
          <p:cNvSpPr/>
          <p:nvPr/>
        </p:nvSpPr>
        <p:spPr>
          <a:xfrm>
            <a:off x="8081467" y="1965960"/>
            <a:ext cx="457200" cy="45720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2051" y="2066544"/>
            <a:ext cx="256032" cy="25603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484925" y="2560320"/>
            <a:ext cx="20537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Loyihalash</a:t>
            </a:r>
            <a:endParaRPr lang="en-US" sz="1400" dirty="0"/>
          </a:p>
        </p:txBody>
      </p:sp>
      <p:sp>
        <p:nvSpPr>
          <p:cNvPr id="25" name="Text 17"/>
          <p:cNvSpPr txBox="1"/>
          <p:nvPr/>
        </p:nvSpPr>
        <p:spPr>
          <a:xfrm>
            <a:off x="6484925" y="2926080"/>
            <a:ext cx="205374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Boshqaruv platformasini o‘rnatish, o‘zaro aloqani sozlash</a:t>
            </a:r>
            <a:endParaRPr lang="en-US" sz="115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1275" y="2103120"/>
            <a:ext cx="192024" cy="192024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9041587" y="1691640"/>
            <a:ext cx="2602382" cy="2080260"/>
          </a:xfrm>
          <a:prstGeom prst="roundRect">
            <a:avLst>
              <a:gd name="adj" fmla="val 615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8" name="Text 19"/>
          <p:cNvSpPr txBox="1"/>
          <p:nvPr/>
        </p:nvSpPr>
        <p:spPr>
          <a:xfrm>
            <a:off x="9315907" y="1965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9" name="Shape 20"/>
          <p:cNvSpPr/>
          <p:nvPr/>
        </p:nvSpPr>
        <p:spPr>
          <a:xfrm>
            <a:off x="10912450" y="1965960"/>
            <a:ext cx="457200" cy="45720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13034" y="2066544"/>
            <a:ext cx="256032" cy="256032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9315907" y="2560320"/>
            <a:ext cx="20537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Javob qoidalari</a:t>
            </a:r>
            <a:endParaRPr lang="en-US" sz="1400" dirty="0"/>
          </a:p>
        </p:txBody>
      </p:sp>
      <p:sp>
        <p:nvSpPr>
          <p:cNvPr id="32" name="Text 22"/>
          <p:cNvSpPr txBox="1"/>
          <p:nvPr/>
        </p:nvSpPr>
        <p:spPr>
          <a:xfrm>
            <a:off x="9315907" y="2926080"/>
            <a:ext cx="205374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Insidentlar ustuvorligi va eskalatsiya qoidalari</a:t>
            </a:r>
            <a:endParaRPr lang="en-US" sz="1150" dirty="0"/>
          </a:p>
        </p:txBody>
      </p:sp>
      <p:sp>
        <p:nvSpPr>
          <p:cNvPr id="33" name="Shape 23"/>
          <p:cNvSpPr/>
          <p:nvPr/>
        </p:nvSpPr>
        <p:spPr>
          <a:xfrm>
            <a:off x="548640" y="4000500"/>
            <a:ext cx="3546043" cy="2080260"/>
          </a:xfrm>
          <a:prstGeom prst="roundRect">
            <a:avLst>
              <a:gd name="adj" fmla="val 615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4" name="Text 24"/>
          <p:cNvSpPr txBox="1"/>
          <p:nvPr/>
        </p:nvSpPr>
        <p:spPr>
          <a:xfrm>
            <a:off x="822960" y="42748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35" name="Shape 25"/>
          <p:cNvSpPr/>
          <p:nvPr/>
        </p:nvSpPr>
        <p:spPr>
          <a:xfrm>
            <a:off x="3363163" y="4274820"/>
            <a:ext cx="457200" cy="45720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63747" y="4375404"/>
            <a:ext cx="256032" cy="256032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822960" y="4869180"/>
            <a:ext cx="29974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Integratsiya</a:t>
            </a:r>
            <a:endParaRPr lang="en-US" sz="1400" dirty="0"/>
          </a:p>
        </p:txBody>
      </p:sp>
      <p:sp>
        <p:nvSpPr>
          <p:cNvPr id="38" name="Text 27"/>
          <p:cNvSpPr txBox="1"/>
          <p:nvPr/>
        </p:nvSpPr>
        <p:spPr>
          <a:xfrm>
            <a:off x="822960" y="5234940"/>
            <a:ext cx="2997403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Amaldagi kontur bilan: SIEM, SOAR, ITSM</a:t>
            </a:r>
            <a:endParaRPr lang="en-US" sz="1150" dirty="0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2971" y="4411980"/>
            <a:ext cx="192024" cy="192024"/>
          </a:xfrm>
          <a:prstGeom prst="rect">
            <a:avLst/>
          </a:prstGeom>
        </p:spPr>
      </p:pic>
      <p:sp>
        <p:nvSpPr>
          <p:cNvPr id="40" name="Shape 28"/>
          <p:cNvSpPr/>
          <p:nvPr/>
        </p:nvSpPr>
        <p:spPr>
          <a:xfrm>
            <a:off x="4323283" y="4000500"/>
            <a:ext cx="3546043" cy="2080260"/>
          </a:xfrm>
          <a:prstGeom prst="roundRect">
            <a:avLst>
              <a:gd name="adj" fmla="val 615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1" name="Text 29"/>
          <p:cNvSpPr txBox="1"/>
          <p:nvPr/>
        </p:nvSpPr>
        <p:spPr>
          <a:xfrm>
            <a:off x="4597603" y="42748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42" name="Shape 30"/>
          <p:cNvSpPr/>
          <p:nvPr/>
        </p:nvSpPr>
        <p:spPr>
          <a:xfrm>
            <a:off x="7137806" y="4274820"/>
            <a:ext cx="457200" cy="45720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8390" y="4375404"/>
            <a:ext cx="256032" cy="256032"/>
          </a:xfrm>
          <a:prstGeom prst="rect">
            <a:avLst/>
          </a:prstGeom>
        </p:spPr>
      </p:pic>
      <p:sp>
        <p:nvSpPr>
          <p:cNvPr id="44" name="Text 31"/>
          <p:cNvSpPr txBox="1"/>
          <p:nvPr/>
        </p:nvSpPr>
        <p:spPr>
          <a:xfrm>
            <a:off x="4597603" y="4869180"/>
            <a:ext cx="29974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Sinov va qabul qilish</a:t>
            </a:r>
            <a:endParaRPr lang="en-US" sz="1400" dirty="0"/>
          </a:p>
        </p:txBody>
      </p:sp>
      <p:sp>
        <p:nvSpPr>
          <p:cNvPr id="45" name="Text 32"/>
          <p:cNvSpPr txBox="1"/>
          <p:nvPr/>
        </p:nvSpPr>
        <p:spPr>
          <a:xfrm>
            <a:off x="4597603" y="5234940"/>
            <a:ext cx="2997403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Tizim va javob stsenariylari ishini tekshirish</a:t>
            </a:r>
            <a:endParaRPr lang="en-US" sz="1150" dirty="0"/>
          </a:p>
        </p:txBody>
      </p:sp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7614" y="4411980"/>
            <a:ext cx="192024" cy="192024"/>
          </a:xfrm>
          <a:prstGeom prst="rect">
            <a:avLst/>
          </a:prstGeom>
        </p:spPr>
      </p:pic>
      <p:sp>
        <p:nvSpPr>
          <p:cNvPr id="47" name="Shape 33"/>
          <p:cNvSpPr/>
          <p:nvPr/>
        </p:nvSpPr>
        <p:spPr>
          <a:xfrm>
            <a:off x="8097926" y="4000500"/>
            <a:ext cx="3546043" cy="2080260"/>
          </a:xfrm>
          <a:prstGeom prst="roundRect">
            <a:avLst>
              <a:gd name="adj" fmla="val 6154"/>
            </a:avLst>
          </a:prstGeom>
          <a:solidFill>
            <a:srgbClr val="0C3552">
              <a:alpha val="72000"/>
            </a:srgbClr>
          </a:solidFill>
          <a:ln w="9525">
            <a:solidFill>
              <a:srgbClr val="4FD1FF">
                <a:alpha val="65000"/>
              </a:srgbClr>
            </a:solidFill>
            <a:prstDash val="solid"/>
          </a:ln>
        </p:spPr>
      </p:sp>
      <p:sp>
        <p:nvSpPr>
          <p:cNvPr id="48" name="Text 34"/>
          <p:cNvSpPr txBox="1"/>
          <p:nvPr/>
        </p:nvSpPr>
        <p:spPr>
          <a:xfrm>
            <a:off x="8372246" y="42748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400" dirty="0"/>
          </a:p>
        </p:txBody>
      </p:sp>
      <p:sp>
        <p:nvSpPr>
          <p:cNvPr id="49" name="Shape 35"/>
          <p:cNvSpPr/>
          <p:nvPr/>
        </p:nvSpPr>
        <p:spPr>
          <a:xfrm>
            <a:off x="10912450" y="4274820"/>
            <a:ext cx="457200" cy="45720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50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13034" y="4375404"/>
            <a:ext cx="256032" cy="256032"/>
          </a:xfrm>
          <a:prstGeom prst="rect">
            <a:avLst/>
          </a:prstGeom>
        </p:spPr>
      </p:pic>
      <p:sp>
        <p:nvSpPr>
          <p:cNvPr id="51" name="Text 36"/>
          <p:cNvSpPr txBox="1"/>
          <p:nvPr/>
        </p:nvSpPr>
        <p:spPr>
          <a:xfrm>
            <a:off x="8372246" y="4869180"/>
            <a:ext cx="29974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Sanoat ekspluatatsiyasi</a:t>
            </a:r>
            <a:endParaRPr lang="en-US" sz="1400" dirty="0"/>
          </a:p>
        </p:txBody>
      </p:sp>
      <p:sp>
        <p:nvSpPr>
          <p:cNvPr id="52" name="Text 37"/>
          <p:cNvSpPr txBox="1"/>
          <p:nvPr/>
        </p:nvSpPr>
        <p:spPr>
          <a:xfrm>
            <a:off x="8372246" y="5234940"/>
            <a:ext cx="2997403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O‘qitish, barcha qurilmalarga masshtablash, ekspluatatsiya hujjatlari</a:t>
            </a:r>
            <a:endParaRPr lang="en-US" sz="115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30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300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05840"/>
            <a:ext cx="5433365" cy="4846320"/>
          </a:xfrm>
          <a:prstGeom prst="roundRect">
            <a:avLst>
              <a:gd name="adj" fmla="val 2642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3" name="Image 0" descr="/home/claude/assets/identity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1371600"/>
            <a:ext cx="1401079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60120" y="2057400"/>
            <a:ext cx="46104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KONTAKTLAR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960120" y="2377440"/>
            <a:ext cx="461040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Himoyani birga muhokama qilamiz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960120" y="3493008"/>
            <a:ext cx="461040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Tekshiruv o‘tkazamiz, pilotni ishga tushiramiz va infratuzilmangizga mos EDR yechimini tanlaymiz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960120" y="4251960"/>
            <a:ext cx="4610405" cy="914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471416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4434840"/>
            <a:ext cx="28730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«IDENTITY» MChJ</a:t>
            </a: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4800600"/>
            <a:ext cx="237744" cy="2377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4764024"/>
            <a:ext cx="28730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u="sng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+998 78 555-11-75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" y="5129784"/>
            <a:ext cx="237744" cy="23774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325880" y="5093208"/>
            <a:ext cx="28730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u="sng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info@identity-uz.com</a:t>
            </a:r>
            <a:endParaRPr lang="en-US" sz="12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0120" y="5458968"/>
            <a:ext cx="237744" cy="237744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325880" y="5422392"/>
            <a:ext cx="28730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7DEEA"/>
                </a:solidFill>
                <a:latin typeface="Arial" pitchFamily="34" charset="0"/>
                <a:cs typeface="Arial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Ariza qoldirish: </a:t>
            </a:r>
            <a:r>
              <a:rPr lang="en-US" sz="1250" u="sng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identity-uz.com</a:t>
            </a:r>
            <a:endParaRPr lang="en-US" sz="1250" dirty="0"/>
          </a:p>
        </p:txBody>
      </p:sp>
      <p:sp>
        <p:nvSpPr>
          <p:cNvPr id="16" name="Shape 9"/>
          <p:cNvSpPr/>
          <p:nvPr/>
        </p:nvSpPr>
        <p:spPr>
          <a:xfrm>
            <a:off x="4418381" y="4352544"/>
            <a:ext cx="120700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5" descr="/home/claude/assets/qr_site.png">
            <a:hlinkClick r:id="rId11" tooltip="identity-uz.com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73245" y="4407408"/>
            <a:ext cx="1097280" cy="1097280"/>
          </a:xfrm>
          <a:prstGeom prst="rect">
            <a:avLst/>
          </a:prstGeom>
        </p:spPr>
      </p:pic>
    </p:spTree>
  </p:cSld>
  <p:clrMapOvr>
    <a:masterClrMapping/>
  </p:clrMapOvr>
  <p:transition xmlns:p="http://schemas.openxmlformats.org/presentationml/2006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30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KEYINGI QADAMLAR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Tizim bilan tanishish </a:t>
            </a:r>
            <a:pPr indent="0" marL="0">
              <a:buNone/>
            </a:pPr>
            <a:r>
              <a:rPr lang="en-US" sz="30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variantlari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093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pPr indent="0" marL="0">
              <a:buNone/>
            </a:pPr>
            <a:r>
              <a:rPr lang="en-US" sz="9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14    EDR</a:t>
            </a:r>
            <a:endParaRPr lang="en-US" sz="900" dirty="0"/>
          </a:p>
        </p:txBody>
      </p:sp>
      <p:pic>
        <p:nvPicPr>
          <p:cNvPr id="5" name="Image 0" descr="/home/claude/assets/identity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6365" y="6309360"/>
            <a:ext cx="896690" cy="2926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3546043" cy="4389120"/>
          </a:xfrm>
          <a:prstGeom prst="roundRect">
            <a:avLst>
              <a:gd name="adj" fmla="val 3610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207568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4FD1FF">
              <a:alpha val="15000"/>
            </a:srgbClr>
          </a:solidFill>
          <a:ln w="9525">
            <a:solidFill>
              <a:srgbClr val="4FD1FF">
                <a:alpha val="65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0756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1-VARIANT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308299" y="1965960"/>
            <a:ext cx="512064" cy="51206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0953" y="2078614"/>
            <a:ext cx="286756" cy="2867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2960" y="2651760"/>
            <a:ext cx="299740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Namoyish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3291840"/>
            <a:ext cx="29974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Tizim imkoniyatlari va interfeysi bilan tanishish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2960" y="3977640"/>
            <a:ext cx="2997403" cy="914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22960" y="41148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NIMALAR KIRADI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822960" y="4434840"/>
            <a:ext cx="299740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Demo-stendda ko‘rsatish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Aniqlash va javob stsenariylarini ko‘rib chiqish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 mutaxassislari savollariga javoblar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323283" y="1691640"/>
            <a:ext cx="3546043" cy="4389120"/>
          </a:xfrm>
          <a:prstGeom prst="roundRect">
            <a:avLst>
              <a:gd name="adj" fmla="val 3610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597603" y="207568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4FD1FF">
              <a:alpha val="15000"/>
            </a:srgbClr>
          </a:solidFill>
          <a:ln w="9525">
            <a:solidFill>
              <a:srgbClr val="4FD1FF">
                <a:alpha val="6500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597603" y="20756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2-VARIANT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7082942" y="1965960"/>
            <a:ext cx="512064" cy="51206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5596" y="2078614"/>
            <a:ext cx="286756" cy="28675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597603" y="2651760"/>
            <a:ext cx="299740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stendida pilot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4597603" y="3291840"/>
            <a:ext cx="29974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Asosiy funksiyalarni nazorat qilinadigan sharoitda tekshirish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597603" y="3977640"/>
            <a:ext cx="2997403" cy="914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4597603" y="41148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NIMALAR KIRADI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4597603" y="4434840"/>
            <a:ext cx="299740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qurilmalarida agentlar o‘rnatilgan stend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Tipik hujumlarni modellashtirish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Konsol qulayligini baholash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8097926" y="1691640"/>
            <a:ext cx="3546043" cy="4389120"/>
          </a:xfrm>
          <a:prstGeom prst="roundRect">
            <a:avLst>
              <a:gd name="adj" fmla="val 3610"/>
            </a:avLst>
          </a:prstGeom>
          <a:solidFill>
            <a:srgbClr val="0C3552">
              <a:alpha val="72000"/>
            </a:srgbClr>
          </a:solidFill>
          <a:ln w="9525">
            <a:solidFill>
              <a:srgbClr val="4FD1FF">
                <a:alpha val="65000"/>
              </a:srgbClr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8372246" y="207568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4FD1FF">
              <a:alpha val="80000"/>
            </a:srgbClr>
          </a:solidFill>
          <a:ln w="9525">
            <a:solidFill>
              <a:srgbClr val="4FD1FF">
                <a:alpha val="65000"/>
              </a:srgbClr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8372246" y="20756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06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TAVSIYA ETAMIZ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10857586" y="1965960"/>
            <a:ext cx="512064" cy="51206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0240" y="2078614"/>
            <a:ext cx="286756" cy="286756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8372246" y="2651760"/>
            <a:ext cx="299740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Buyurtmachi infratuzilmasida pilot</a:t>
            </a:r>
            <a:endParaRPr lang="en-US" sz="1600" dirty="0"/>
          </a:p>
        </p:txBody>
      </p:sp>
      <p:sp>
        <p:nvSpPr>
          <p:cNvPr id="32" name="Text 26"/>
          <p:cNvSpPr txBox="1"/>
          <p:nvPr/>
        </p:nvSpPr>
        <p:spPr>
          <a:xfrm>
            <a:off x="8372246" y="3291840"/>
            <a:ext cx="29974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ish stansiyalari va serverlarda ishlash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8372246" y="3977640"/>
            <a:ext cx="2997403" cy="914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8372246" y="41148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NIMALAR KIRADI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8372246" y="4434840"/>
            <a:ext cx="299740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Cheklangan guruh qurilmalar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telemetriya va insidentlar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Yakuniy hisobot va joriy etish rejasi</a:t>
            </a:r>
            <a:endParaRPr lang="en-US" sz="12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30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30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4FD1FF"/>
      </a:hlink>
      <a:folHlink>
        <a:srgbClr val="4FD1FF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953</Words>
  <Application>Microsoft Office PowerPoint</Application>
  <PresentationFormat>Широкоэкранный</PresentationFormat>
  <Paragraphs>239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ООО «IDENTITY»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EDR — обнаружение и реагирование на угрозы</dc:title>
  <dc:subject>EDR — ООО «IDENTITY» Presentation</dc:subject>
  <dc:creator>ООО «IDENTITY»</dc:creator>
  <cp:lastModifiedBy>Hp Envy</cp:lastModifiedBy>
  <cp:revision>2</cp:revision>
  <dcterms:created xsi:type="dcterms:W3CDTF">2026-10-12T07:30:22Z</dcterms:created>
  <dcterms:modified xsi:type="dcterms:W3CDTF">2026-10-16T09:28:53Z</dcterms:modified>
</cp:coreProperties>
</file>